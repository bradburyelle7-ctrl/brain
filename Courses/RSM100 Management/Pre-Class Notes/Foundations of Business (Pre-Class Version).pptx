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675" r:id="rId2"/>
    <p:sldMasterId id="2147483687" r:id="rId3"/>
  </p:sldMasterIdLst>
  <p:notesMasterIdLst>
    <p:notesMasterId r:id="rId51"/>
  </p:notesMasterIdLst>
  <p:handoutMasterIdLst>
    <p:handoutMasterId r:id="rId52"/>
  </p:handoutMasterIdLst>
  <p:sldIdLst>
    <p:sldId id="1677" r:id="rId4"/>
    <p:sldId id="1696" r:id="rId5"/>
    <p:sldId id="1670" r:id="rId6"/>
    <p:sldId id="316" r:id="rId7"/>
    <p:sldId id="317" r:id="rId8"/>
    <p:sldId id="1669" r:id="rId9"/>
    <p:sldId id="429" r:id="rId10"/>
    <p:sldId id="430" r:id="rId11"/>
    <p:sldId id="437" r:id="rId12"/>
    <p:sldId id="432" r:id="rId13"/>
    <p:sldId id="433" r:id="rId14"/>
    <p:sldId id="434" r:id="rId15"/>
    <p:sldId id="1683" r:id="rId16"/>
    <p:sldId id="1671" r:id="rId17"/>
    <p:sldId id="500" r:id="rId18"/>
    <p:sldId id="441" r:id="rId19"/>
    <p:sldId id="442" r:id="rId20"/>
    <p:sldId id="443" r:id="rId21"/>
    <p:sldId id="444" r:id="rId22"/>
    <p:sldId id="413" r:id="rId23"/>
    <p:sldId id="1672" r:id="rId24"/>
    <p:sldId id="438" r:id="rId25"/>
    <p:sldId id="439" r:id="rId26"/>
    <p:sldId id="1674" r:id="rId27"/>
    <p:sldId id="1673" r:id="rId28"/>
    <p:sldId id="1666" r:id="rId29"/>
    <p:sldId id="1667" r:id="rId30"/>
    <p:sldId id="400" r:id="rId31"/>
    <p:sldId id="1668" r:id="rId32"/>
    <p:sldId id="1699" r:id="rId33"/>
    <p:sldId id="1700" r:id="rId34"/>
    <p:sldId id="1701" r:id="rId35"/>
    <p:sldId id="1702" r:id="rId36"/>
    <p:sldId id="1704" r:id="rId37"/>
    <p:sldId id="1705" r:id="rId38"/>
    <p:sldId id="1703" r:id="rId39"/>
    <p:sldId id="404" r:id="rId40"/>
    <p:sldId id="448" r:id="rId41"/>
    <p:sldId id="426" r:id="rId42"/>
    <p:sldId id="427" r:id="rId43"/>
    <p:sldId id="428" r:id="rId44"/>
    <p:sldId id="431" r:id="rId45"/>
    <p:sldId id="435" r:id="rId46"/>
    <p:sldId id="436" r:id="rId47"/>
    <p:sldId id="319" r:id="rId48"/>
    <p:sldId id="321" r:id="rId49"/>
    <p:sldId id="446" r:id="rId50"/>
  </p:sldIdLst>
  <p:sldSz cx="12192000" cy="6858000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90D5C04-680B-46A3-932B-36D6B81CE96E}">
          <p14:sldIdLst>
            <p14:sldId id="1677"/>
          </p14:sldIdLst>
        </p14:section>
        <p14:section name="Summary Section" id="{3DD4E580-0988-40B3-ABFA-CD9F1FC9CEDC}">
          <p14:sldIdLst>
            <p14:sldId id="1696"/>
          </p14:sldIdLst>
        </p14:section>
        <p14:section name="Wealth Creation" id="{C6486340-3BDE-4D62-AB44-6492A0164AB8}">
          <p14:sldIdLst>
            <p14:sldId id="1670"/>
            <p14:sldId id="316"/>
            <p14:sldId id="317"/>
          </p14:sldIdLst>
        </p14:section>
        <p14:section name="Forms of Business Ownership" id="{CE9DF08D-F3B1-4578-8CCD-EC9037F5E663}">
          <p14:sldIdLst>
            <p14:sldId id="1669"/>
            <p14:sldId id="429"/>
            <p14:sldId id="430"/>
            <p14:sldId id="437"/>
            <p14:sldId id="432"/>
            <p14:sldId id="433"/>
            <p14:sldId id="434"/>
            <p14:sldId id="1683"/>
          </p14:sldIdLst>
        </p14:section>
        <p14:section name="Starting a Business" id="{6BEF3B3E-39EA-46C2-B2C9-0DF6CB23278F}">
          <p14:sldIdLst>
            <p14:sldId id="1671"/>
            <p14:sldId id="500"/>
            <p14:sldId id="441"/>
            <p14:sldId id="442"/>
            <p14:sldId id="443"/>
            <p14:sldId id="444"/>
          </p14:sldIdLst>
        </p14:section>
        <p14:section name="Entrepreneurship" id="{6EF62FDF-1AEF-4FF6-A9E9-7899419DCCE1}">
          <p14:sldIdLst>
            <p14:sldId id="413"/>
            <p14:sldId id="1672"/>
            <p14:sldId id="438"/>
            <p14:sldId id="439"/>
            <p14:sldId id="1674"/>
            <p14:sldId id="1673"/>
          </p14:sldIdLst>
        </p14:section>
        <p14:section name="David Birch Model" id="{07AD27F0-66D6-435F-ADFF-86BC465B2336}">
          <p14:sldIdLst>
            <p14:sldId id="1666"/>
            <p14:sldId id="1667"/>
            <p14:sldId id="400"/>
            <p14:sldId id="1668"/>
          </p14:sldIdLst>
        </p14:section>
        <p14:section name="Coach Case Study" id="{CA371194-7A00-4765-991F-DE6DFEA37706}">
          <p14:sldIdLst>
            <p14:sldId id="1699"/>
            <p14:sldId id="1700"/>
            <p14:sldId id="1701"/>
            <p14:sldId id="1702"/>
            <p14:sldId id="1704"/>
            <p14:sldId id="1705"/>
            <p14:sldId id="1703"/>
          </p14:sldIdLst>
        </p14:section>
        <p14:section name="Conclusion" id="{836AE27D-7A51-476E-9699-658E52EF3597}">
          <p14:sldIdLst>
            <p14:sldId id="404"/>
            <p14:sldId id="448"/>
            <p14:sldId id="426"/>
            <p14:sldId id="427"/>
            <p14:sldId id="428"/>
            <p14:sldId id="431"/>
            <p14:sldId id="435"/>
            <p14:sldId id="436"/>
            <p14:sldId id="319"/>
            <p14:sldId id="321"/>
            <p14:sldId id="4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7" autoAdjust="0"/>
    <p:restoredTop sz="87237" autoAdjust="0"/>
  </p:normalViewPr>
  <p:slideViewPr>
    <p:cSldViewPr>
      <p:cViewPr varScale="1">
        <p:scale>
          <a:sx n="73" d="100"/>
          <a:sy n="73" d="100"/>
        </p:scale>
        <p:origin x="855" y="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914" y="58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commentAuthors" Target="commentAuthors.xml"/><Relationship Id="rId58" Type="http://schemas.microsoft.com/office/2018/10/relationships/authors" Target="author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ableStyles" Target="tableStyle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handoutMaster" Target="handoutMasters/handoutMaster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svg"/><Relationship Id="rId1" Type="http://schemas.openxmlformats.org/officeDocument/2006/relationships/image" Target="../media/image14.svg"/><Relationship Id="rId4" Type="http://schemas.openxmlformats.org/officeDocument/2006/relationships/image" Target="../media/image1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image" Target="../media/image30.svg"/></Relationships>
</file>

<file path=ppt/diagrams/_rels/data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svg"/><Relationship Id="rId1" Type="http://schemas.openxmlformats.org/officeDocument/2006/relationships/image" Target="../media/image3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2.svg"/><Relationship Id="rId1" Type="http://schemas.openxmlformats.org/officeDocument/2006/relationships/image" Target="../media/image14.svg"/><Relationship Id="rId4" Type="http://schemas.openxmlformats.org/officeDocument/2006/relationships/image" Target="../media/image1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image" Target="../media/image30.svg"/></Relationships>
</file>

<file path=ppt/diagrams/_rels/drawing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svg"/><Relationship Id="rId1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#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#3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#4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#5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C63278-18FA-414C-AF58-8D2660EC6A26}" type="doc">
      <dgm:prSet loTypeId="urn:microsoft.com/office/officeart/2018/5/layout/IconLeafLabelList" loCatId="icon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1D6AA64B-235C-4C6B-BF11-A7B1F2420C4C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 sz="1400" dirty="0"/>
            <a:t>Wealth (n) “the annual produce of the land and labour of society”  Adam Smith, 1776</a:t>
          </a:r>
          <a:endParaRPr lang="en-US" sz="1400" dirty="0"/>
        </a:p>
      </dgm:t>
    </dgm:pt>
    <dgm:pt modelId="{49E8F634-0F70-4F77-A1F5-C03F564C1CB7}" type="parTrans" cxnId="{C590900B-BB5A-4024-A0F6-8408C3C3BC03}">
      <dgm:prSet/>
      <dgm:spPr/>
      <dgm:t>
        <a:bodyPr/>
        <a:lstStyle/>
        <a:p>
          <a:endParaRPr lang="en-US" sz="2400"/>
        </a:p>
      </dgm:t>
    </dgm:pt>
    <dgm:pt modelId="{F734B776-2753-4EC6-9FE4-82848D97537D}" type="sibTrans" cxnId="{C590900B-BB5A-4024-A0F6-8408C3C3BC03}">
      <dgm:prSet/>
      <dgm:spPr/>
      <dgm:t>
        <a:bodyPr/>
        <a:lstStyle/>
        <a:p>
          <a:endParaRPr lang="en-US" sz="2400"/>
        </a:p>
      </dgm:t>
    </dgm:pt>
    <dgm:pt modelId="{AF92E29B-23A0-4D9E-A921-2388685B9AE9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 sz="1400" dirty="0"/>
            <a:t>Wealth creation:  combining materials, ideas, labour, technology so that the output can be sold for more than costs.  This profit brings wealth to the people and society involved in production.</a:t>
          </a:r>
          <a:endParaRPr lang="en-US" sz="1400" dirty="0"/>
        </a:p>
      </dgm:t>
    </dgm:pt>
    <dgm:pt modelId="{AEF8A871-F9E1-411E-84BE-0DAD1FBE80F3}" type="parTrans" cxnId="{20F98911-4A29-460E-A262-06A75B720615}">
      <dgm:prSet/>
      <dgm:spPr/>
      <dgm:t>
        <a:bodyPr/>
        <a:lstStyle/>
        <a:p>
          <a:endParaRPr lang="en-US" sz="2400"/>
        </a:p>
      </dgm:t>
    </dgm:pt>
    <dgm:pt modelId="{932CCEFB-4B72-4018-B6D9-DC153BEBBDE2}" type="sibTrans" cxnId="{20F98911-4A29-460E-A262-06A75B720615}">
      <dgm:prSet/>
      <dgm:spPr/>
      <dgm:t>
        <a:bodyPr/>
        <a:lstStyle/>
        <a:p>
          <a:endParaRPr lang="en-US" sz="2400"/>
        </a:p>
      </dgm:t>
    </dgm:pt>
    <dgm:pt modelId="{0A60D31A-7443-447D-96B4-D36A9F58E88F}" type="pres">
      <dgm:prSet presAssocID="{F7C63278-18FA-414C-AF58-8D2660EC6A26}" presName="root" presStyleCnt="0">
        <dgm:presLayoutVars>
          <dgm:dir/>
          <dgm:resizeHandles val="exact"/>
        </dgm:presLayoutVars>
      </dgm:prSet>
      <dgm:spPr/>
    </dgm:pt>
    <dgm:pt modelId="{EDADEC7B-D9C1-45D4-A3A4-A00AEDC6FB1C}" type="pres">
      <dgm:prSet presAssocID="{1D6AA64B-235C-4C6B-BF11-A7B1F2420C4C}" presName="compNode" presStyleCnt="0"/>
      <dgm:spPr/>
    </dgm:pt>
    <dgm:pt modelId="{4F06CF53-0AA1-4B4E-90E0-9F6B4AE8C291}" type="pres">
      <dgm:prSet presAssocID="{1D6AA64B-235C-4C6B-BF11-A7B1F2420C4C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8C832EFE-B27F-4423-AD27-606A61ADD2F4}" type="pres">
      <dgm:prSet presAssocID="{1D6AA64B-235C-4C6B-BF11-A7B1F2420C4C}" presName="iconRect" presStyleLbl="node1" presStyleIdx="0" presStyleCnt="2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44E4BD1E-C5AA-4141-8827-68B74A675663}" type="pres">
      <dgm:prSet presAssocID="{1D6AA64B-235C-4C6B-BF11-A7B1F2420C4C}" presName="spaceRect" presStyleCnt="0"/>
      <dgm:spPr/>
    </dgm:pt>
    <dgm:pt modelId="{98394030-FDFD-4551-B88F-0FB4C530E560}" type="pres">
      <dgm:prSet presAssocID="{1D6AA64B-235C-4C6B-BF11-A7B1F2420C4C}" presName="textRect" presStyleLbl="revTx" presStyleIdx="0" presStyleCnt="2">
        <dgm:presLayoutVars>
          <dgm:chMax val="1"/>
          <dgm:chPref val="1"/>
        </dgm:presLayoutVars>
      </dgm:prSet>
      <dgm:spPr/>
    </dgm:pt>
    <dgm:pt modelId="{435A534A-F8C7-465E-87BF-0B0410BD0A4B}" type="pres">
      <dgm:prSet presAssocID="{F734B776-2753-4EC6-9FE4-82848D97537D}" presName="sibTrans" presStyleCnt="0"/>
      <dgm:spPr/>
    </dgm:pt>
    <dgm:pt modelId="{668FFFD1-6C9E-4F0D-8FBC-4FDED4ADB073}" type="pres">
      <dgm:prSet presAssocID="{AF92E29B-23A0-4D9E-A921-2388685B9AE9}" presName="compNode" presStyleCnt="0"/>
      <dgm:spPr/>
    </dgm:pt>
    <dgm:pt modelId="{103B2C66-FEFF-44E1-94CB-4C570D4FC14E}" type="pres">
      <dgm:prSet presAssocID="{AF92E29B-23A0-4D9E-A921-2388685B9AE9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A4B1CAFB-C57D-4B3D-A268-20327C3EFDE7}" type="pres">
      <dgm:prSet presAssocID="{AF92E29B-23A0-4D9E-A921-2388685B9AE9}" presName="iconRect" presStyleLbl="node1" presStyleIdx="1" presStyleCnt="2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C90E3D34-AF25-4732-8A2B-CD23D9862CBD}" type="pres">
      <dgm:prSet presAssocID="{AF92E29B-23A0-4D9E-A921-2388685B9AE9}" presName="spaceRect" presStyleCnt="0"/>
      <dgm:spPr/>
    </dgm:pt>
    <dgm:pt modelId="{723DAA5F-33E4-49DF-B460-C0D95D66573D}" type="pres">
      <dgm:prSet presAssocID="{AF92E29B-23A0-4D9E-A921-2388685B9AE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590900B-BB5A-4024-A0F6-8408C3C3BC03}" srcId="{F7C63278-18FA-414C-AF58-8D2660EC6A26}" destId="{1D6AA64B-235C-4C6B-BF11-A7B1F2420C4C}" srcOrd="0" destOrd="0" parTransId="{49E8F634-0F70-4F77-A1F5-C03F564C1CB7}" sibTransId="{F734B776-2753-4EC6-9FE4-82848D97537D}"/>
    <dgm:cxn modelId="{20F98911-4A29-460E-A262-06A75B720615}" srcId="{F7C63278-18FA-414C-AF58-8D2660EC6A26}" destId="{AF92E29B-23A0-4D9E-A921-2388685B9AE9}" srcOrd="1" destOrd="0" parTransId="{AEF8A871-F9E1-411E-84BE-0DAD1FBE80F3}" sibTransId="{932CCEFB-4B72-4018-B6D9-DC153BEBBDE2}"/>
    <dgm:cxn modelId="{EF0EC920-6D32-2A47-B757-A92F4D9DF6F2}" type="presOf" srcId="{1D6AA64B-235C-4C6B-BF11-A7B1F2420C4C}" destId="{98394030-FDFD-4551-B88F-0FB4C530E560}" srcOrd="0" destOrd="0" presId="urn:microsoft.com/office/officeart/2018/5/layout/IconLeafLabelList"/>
    <dgm:cxn modelId="{DF085576-7679-CB47-8690-301B822A5C58}" type="presOf" srcId="{AF92E29B-23A0-4D9E-A921-2388685B9AE9}" destId="{723DAA5F-33E4-49DF-B460-C0D95D66573D}" srcOrd="0" destOrd="0" presId="urn:microsoft.com/office/officeart/2018/5/layout/IconLeafLabelList"/>
    <dgm:cxn modelId="{E11D02F5-F42C-C64E-AE77-24508203993A}" type="presOf" srcId="{F7C63278-18FA-414C-AF58-8D2660EC6A26}" destId="{0A60D31A-7443-447D-96B4-D36A9F58E88F}" srcOrd="0" destOrd="0" presId="urn:microsoft.com/office/officeart/2018/5/layout/IconLeafLabelList"/>
    <dgm:cxn modelId="{722FDBF2-CBA0-2B44-8DED-ECE0D692D62B}" type="presParOf" srcId="{0A60D31A-7443-447D-96B4-D36A9F58E88F}" destId="{EDADEC7B-D9C1-45D4-A3A4-A00AEDC6FB1C}" srcOrd="0" destOrd="0" presId="urn:microsoft.com/office/officeart/2018/5/layout/IconLeafLabelList"/>
    <dgm:cxn modelId="{AA4C68EA-7104-A949-9B05-8F4AFC0D3B16}" type="presParOf" srcId="{EDADEC7B-D9C1-45D4-A3A4-A00AEDC6FB1C}" destId="{4F06CF53-0AA1-4B4E-90E0-9F6B4AE8C291}" srcOrd="0" destOrd="0" presId="urn:microsoft.com/office/officeart/2018/5/layout/IconLeafLabelList"/>
    <dgm:cxn modelId="{256F255E-C58D-D74B-AA80-D6F4D31F816E}" type="presParOf" srcId="{EDADEC7B-D9C1-45D4-A3A4-A00AEDC6FB1C}" destId="{8C832EFE-B27F-4423-AD27-606A61ADD2F4}" srcOrd="1" destOrd="0" presId="urn:microsoft.com/office/officeart/2018/5/layout/IconLeafLabelList"/>
    <dgm:cxn modelId="{CA27E63C-20A5-6648-B49F-46126C10A926}" type="presParOf" srcId="{EDADEC7B-D9C1-45D4-A3A4-A00AEDC6FB1C}" destId="{44E4BD1E-C5AA-4141-8827-68B74A675663}" srcOrd="2" destOrd="0" presId="urn:microsoft.com/office/officeart/2018/5/layout/IconLeafLabelList"/>
    <dgm:cxn modelId="{F728DDBC-A6EB-6848-A039-FE2CCB68204E}" type="presParOf" srcId="{EDADEC7B-D9C1-45D4-A3A4-A00AEDC6FB1C}" destId="{98394030-FDFD-4551-B88F-0FB4C530E560}" srcOrd="3" destOrd="0" presId="urn:microsoft.com/office/officeart/2018/5/layout/IconLeafLabelList"/>
    <dgm:cxn modelId="{49E066D5-1ABF-D94D-9487-9BDCF158854C}" type="presParOf" srcId="{0A60D31A-7443-447D-96B4-D36A9F58E88F}" destId="{435A534A-F8C7-465E-87BF-0B0410BD0A4B}" srcOrd="1" destOrd="0" presId="urn:microsoft.com/office/officeart/2018/5/layout/IconLeafLabelList"/>
    <dgm:cxn modelId="{F571610C-7372-DB4A-B8D8-95724C3F69AE}" type="presParOf" srcId="{0A60D31A-7443-447D-96B4-D36A9F58E88F}" destId="{668FFFD1-6C9E-4F0D-8FBC-4FDED4ADB073}" srcOrd="2" destOrd="0" presId="urn:microsoft.com/office/officeart/2018/5/layout/IconLeafLabelList"/>
    <dgm:cxn modelId="{FC2EEFA9-BE97-F147-B045-8838EA43DCF3}" type="presParOf" srcId="{668FFFD1-6C9E-4F0D-8FBC-4FDED4ADB073}" destId="{103B2C66-FEFF-44E1-94CB-4C570D4FC14E}" srcOrd="0" destOrd="0" presId="urn:microsoft.com/office/officeart/2018/5/layout/IconLeafLabelList"/>
    <dgm:cxn modelId="{D21DE166-C39D-6B47-99FB-8C5F7021208C}" type="presParOf" srcId="{668FFFD1-6C9E-4F0D-8FBC-4FDED4ADB073}" destId="{A4B1CAFB-C57D-4B3D-A268-20327C3EFDE7}" srcOrd="1" destOrd="0" presId="urn:microsoft.com/office/officeart/2018/5/layout/IconLeafLabelList"/>
    <dgm:cxn modelId="{562A3674-F9DB-7A46-8225-320EAED521E0}" type="presParOf" srcId="{668FFFD1-6C9E-4F0D-8FBC-4FDED4ADB073}" destId="{C90E3D34-AF25-4732-8A2B-CD23D9862CBD}" srcOrd="2" destOrd="0" presId="urn:microsoft.com/office/officeart/2018/5/layout/IconLeafLabelList"/>
    <dgm:cxn modelId="{8A6B57E9-9343-4548-9329-A20742DF39FB}" type="presParOf" srcId="{668FFFD1-6C9E-4F0D-8FBC-4FDED4ADB073}" destId="{723DAA5F-33E4-49DF-B460-C0D95D66573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FFDBFC-9CCC-49AE-A5E6-F786BEE9514E}" type="doc">
      <dgm:prSet loTypeId="urn:microsoft.com/office/officeart/2018/2/layout/IconVerticalSolidList" loCatId="icon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9A6C5391-58CC-40ED-891D-C28046450BDF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Combination of inputs</a:t>
          </a:r>
          <a:endParaRPr lang="en-US"/>
        </a:p>
      </dgm:t>
    </dgm:pt>
    <dgm:pt modelId="{2A8F2D8D-01FC-4920-9412-08279DA54A50}" type="parTrans" cxnId="{B4186A4C-DB25-4AF4-9F80-9EAB118920E0}">
      <dgm:prSet/>
      <dgm:spPr/>
      <dgm:t>
        <a:bodyPr/>
        <a:lstStyle/>
        <a:p>
          <a:endParaRPr lang="en-US"/>
        </a:p>
      </dgm:t>
    </dgm:pt>
    <dgm:pt modelId="{71DB368F-1423-4498-97F4-02BD91831D15}" type="sibTrans" cxnId="{B4186A4C-DB25-4AF4-9F80-9EAB118920E0}">
      <dgm:prSet/>
      <dgm:spPr/>
      <dgm:t>
        <a:bodyPr/>
        <a:lstStyle/>
        <a:p>
          <a:endParaRPr lang="en-US"/>
        </a:p>
      </dgm:t>
    </dgm:pt>
    <dgm:pt modelId="{D995D18B-8CCA-4255-85AC-10CB0C74781D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Supportive environment</a:t>
          </a:r>
          <a:endParaRPr lang="en-US"/>
        </a:p>
      </dgm:t>
    </dgm:pt>
    <dgm:pt modelId="{26EDF070-C6F7-4662-9D22-A391ACF5D8BB}" type="parTrans" cxnId="{E9EC9432-DB23-40A6-BDC0-0D61FEC1CFC5}">
      <dgm:prSet/>
      <dgm:spPr/>
      <dgm:t>
        <a:bodyPr/>
        <a:lstStyle/>
        <a:p>
          <a:endParaRPr lang="en-US"/>
        </a:p>
      </dgm:t>
    </dgm:pt>
    <dgm:pt modelId="{EB93AC6C-DDE1-4828-9334-AC86D435898E}" type="sibTrans" cxnId="{E9EC9432-DB23-40A6-BDC0-0D61FEC1CFC5}">
      <dgm:prSet/>
      <dgm:spPr/>
      <dgm:t>
        <a:bodyPr/>
        <a:lstStyle/>
        <a:p>
          <a:endParaRPr lang="en-US"/>
        </a:p>
      </dgm:t>
    </dgm:pt>
    <dgm:pt modelId="{8A9DD580-DD8E-4B60-BDD8-BC44FF5AD954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Means of production</a:t>
          </a:r>
          <a:endParaRPr lang="en-US"/>
        </a:p>
      </dgm:t>
    </dgm:pt>
    <dgm:pt modelId="{30FBF9BE-0641-4B2A-8E63-38E4ACCDAF91}" type="parTrans" cxnId="{6FC0EAD7-7F5D-428C-9EEA-AAE09DF089FD}">
      <dgm:prSet/>
      <dgm:spPr/>
      <dgm:t>
        <a:bodyPr/>
        <a:lstStyle/>
        <a:p>
          <a:endParaRPr lang="en-US"/>
        </a:p>
      </dgm:t>
    </dgm:pt>
    <dgm:pt modelId="{725FB600-71C4-4995-A88C-7562170C8B8D}" type="sibTrans" cxnId="{6FC0EAD7-7F5D-428C-9EEA-AAE09DF089FD}">
      <dgm:prSet/>
      <dgm:spPr/>
      <dgm:t>
        <a:bodyPr/>
        <a:lstStyle/>
        <a:p>
          <a:endParaRPr lang="en-US"/>
        </a:p>
      </dgm:t>
    </dgm:pt>
    <dgm:pt modelId="{3D2FB8E9-035C-42A3-A94F-E5DBBE4F5439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Someone who will pay more than costs</a:t>
          </a:r>
          <a:endParaRPr lang="en-US"/>
        </a:p>
      </dgm:t>
    </dgm:pt>
    <dgm:pt modelId="{6898EB6F-8360-40A4-B418-642713101680}" type="parTrans" cxnId="{5099E68F-29A1-49DC-AF97-089AC61892EB}">
      <dgm:prSet/>
      <dgm:spPr/>
      <dgm:t>
        <a:bodyPr/>
        <a:lstStyle/>
        <a:p>
          <a:endParaRPr lang="en-US"/>
        </a:p>
      </dgm:t>
    </dgm:pt>
    <dgm:pt modelId="{845DE882-8F0A-417E-A832-B91DC6A52C5F}" type="sibTrans" cxnId="{5099E68F-29A1-49DC-AF97-089AC61892EB}">
      <dgm:prSet/>
      <dgm:spPr/>
      <dgm:t>
        <a:bodyPr/>
        <a:lstStyle/>
        <a:p>
          <a:endParaRPr lang="en-US"/>
        </a:p>
      </dgm:t>
    </dgm:pt>
    <dgm:pt modelId="{D8DCECC3-40F5-47E2-B88C-F775447D9255}" type="pres">
      <dgm:prSet presAssocID="{19FFDBFC-9CCC-49AE-A5E6-F786BEE9514E}" presName="root" presStyleCnt="0">
        <dgm:presLayoutVars>
          <dgm:dir/>
          <dgm:resizeHandles val="exact"/>
        </dgm:presLayoutVars>
      </dgm:prSet>
      <dgm:spPr/>
    </dgm:pt>
    <dgm:pt modelId="{E5942322-6197-4353-95B8-B52A71A21538}" type="pres">
      <dgm:prSet presAssocID="{9A6C5391-58CC-40ED-891D-C28046450BDF}" presName="compNode" presStyleCnt="0"/>
      <dgm:spPr/>
    </dgm:pt>
    <dgm:pt modelId="{B658DAF3-2DEE-4F29-903B-707C57997389}" type="pres">
      <dgm:prSet presAssocID="{9A6C5391-58CC-40ED-891D-C28046450BDF}" presName="bgRect" presStyleLbl="bgShp" presStyleIdx="0" presStyleCnt="4"/>
      <dgm:spPr/>
    </dgm:pt>
    <dgm:pt modelId="{33D17F4E-C82F-45DB-91DC-2463F2886650}" type="pres">
      <dgm:prSet presAssocID="{9A6C5391-58CC-40ED-891D-C28046450BDF}" presName="iconRect" presStyleLbl="node1" presStyleIdx="0" presStyleCnt="4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740BA01E-0B7B-4884-9C1C-32D8B9529931}" type="pres">
      <dgm:prSet presAssocID="{9A6C5391-58CC-40ED-891D-C28046450BDF}" presName="spaceRect" presStyleCnt="0"/>
      <dgm:spPr/>
    </dgm:pt>
    <dgm:pt modelId="{92232972-1855-47CF-A800-A500FDE4E3C3}" type="pres">
      <dgm:prSet presAssocID="{9A6C5391-58CC-40ED-891D-C28046450BDF}" presName="parTx" presStyleLbl="revTx" presStyleIdx="0" presStyleCnt="4">
        <dgm:presLayoutVars>
          <dgm:chMax val="0"/>
          <dgm:chPref val="0"/>
        </dgm:presLayoutVars>
      </dgm:prSet>
      <dgm:spPr/>
    </dgm:pt>
    <dgm:pt modelId="{D745A95D-400D-415A-B8D1-A5EB92A2C6B1}" type="pres">
      <dgm:prSet presAssocID="{71DB368F-1423-4498-97F4-02BD91831D15}" presName="sibTrans" presStyleCnt="0"/>
      <dgm:spPr/>
    </dgm:pt>
    <dgm:pt modelId="{C6F0123A-0A57-4813-949E-AEDD4B2A7450}" type="pres">
      <dgm:prSet presAssocID="{D995D18B-8CCA-4255-85AC-10CB0C74781D}" presName="compNode" presStyleCnt="0"/>
      <dgm:spPr/>
    </dgm:pt>
    <dgm:pt modelId="{397B7844-1E12-4D07-8568-0DAA952668BC}" type="pres">
      <dgm:prSet presAssocID="{D995D18B-8CCA-4255-85AC-10CB0C74781D}" presName="bgRect" presStyleLbl="bgShp" presStyleIdx="1" presStyleCnt="4"/>
      <dgm:spPr/>
    </dgm:pt>
    <dgm:pt modelId="{DE340838-FC45-42C8-8A51-804F0FCE0818}" type="pres">
      <dgm:prSet presAssocID="{D995D18B-8CCA-4255-85AC-10CB0C74781D}" presName="iconRect" presStyleLbl="node1" presStyleIdx="1" presStyleCnt="4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EFBBAC55-CCF1-4F45-8F52-0F5BFA558BF0}" type="pres">
      <dgm:prSet presAssocID="{D995D18B-8CCA-4255-85AC-10CB0C74781D}" presName="spaceRect" presStyleCnt="0"/>
      <dgm:spPr/>
    </dgm:pt>
    <dgm:pt modelId="{1F5FE72E-1895-46FD-9C93-D677AE5892B2}" type="pres">
      <dgm:prSet presAssocID="{D995D18B-8CCA-4255-85AC-10CB0C74781D}" presName="parTx" presStyleLbl="revTx" presStyleIdx="1" presStyleCnt="4">
        <dgm:presLayoutVars>
          <dgm:chMax val="0"/>
          <dgm:chPref val="0"/>
        </dgm:presLayoutVars>
      </dgm:prSet>
      <dgm:spPr/>
    </dgm:pt>
    <dgm:pt modelId="{BC793814-9D1A-4EA6-98C9-F06624E85CCC}" type="pres">
      <dgm:prSet presAssocID="{EB93AC6C-DDE1-4828-9334-AC86D435898E}" presName="sibTrans" presStyleCnt="0"/>
      <dgm:spPr/>
    </dgm:pt>
    <dgm:pt modelId="{D49BC87E-C3C6-4AE7-AAAD-5283042346CA}" type="pres">
      <dgm:prSet presAssocID="{8A9DD580-DD8E-4B60-BDD8-BC44FF5AD954}" presName="compNode" presStyleCnt="0"/>
      <dgm:spPr/>
    </dgm:pt>
    <dgm:pt modelId="{7AD29496-DF09-4601-9815-A63C61AB300A}" type="pres">
      <dgm:prSet presAssocID="{8A9DD580-DD8E-4B60-BDD8-BC44FF5AD954}" presName="bgRect" presStyleLbl="bgShp" presStyleIdx="2" presStyleCnt="4"/>
      <dgm:spPr/>
    </dgm:pt>
    <dgm:pt modelId="{EE8BDDA8-DCF9-450B-9E4E-CDEC25B05D95}" type="pres">
      <dgm:prSet presAssocID="{8A9DD580-DD8E-4B60-BDD8-BC44FF5AD954}" presName="iconRect" presStyleLbl="node1" presStyleIdx="2" presStyleCnt="4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F3697EF9-89A4-4104-870D-9123EE8130CD}" type="pres">
      <dgm:prSet presAssocID="{8A9DD580-DD8E-4B60-BDD8-BC44FF5AD954}" presName="spaceRect" presStyleCnt="0"/>
      <dgm:spPr/>
    </dgm:pt>
    <dgm:pt modelId="{8CCC3A86-343B-4495-BFFE-92CEB46077F9}" type="pres">
      <dgm:prSet presAssocID="{8A9DD580-DD8E-4B60-BDD8-BC44FF5AD954}" presName="parTx" presStyleLbl="revTx" presStyleIdx="2" presStyleCnt="4">
        <dgm:presLayoutVars>
          <dgm:chMax val="0"/>
          <dgm:chPref val="0"/>
        </dgm:presLayoutVars>
      </dgm:prSet>
      <dgm:spPr/>
    </dgm:pt>
    <dgm:pt modelId="{6BC111D0-ED68-4A76-AB81-2311E83FFE6E}" type="pres">
      <dgm:prSet presAssocID="{725FB600-71C4-4995-A88C-7562170C8B8D}" presName="sibTrans" presStyleCnt="0"/>
      <dgm:spPr/>
    </dgm:pt>
    <dgm:pt modelId="{F5983993-4AA0-4070-9892-4DF9457CEF0D}" type="pres">
      <dgm:prSet presAssocID="{3D2FB8E9-035C-42A3-A94F-E5DBBE4F5439}" presName="compNode" presStyleCnt="0"/>
      <dgm:spPr/>
    </dgm:pt>
    <dgm:pt modelId="{2744CC8E-6E0B-4E3F-913F-F3DA3B4FFB26}" type="pres">
      <dgm:prSet presAssocID="{3D2FB8E9-035C-42A3-A94F-E5DBBE4F5439}" presName="bgRect" presStyleLbl="bgShp" presStyleIdx="3" presStyleCnt="4"/>
      <dgm:spPr/>
    </dgm:pt>
    <dgm:pt modelId="{3980077C-640C-4004-93F3-CBECAB75BCE7}" type="pres">
      <dgm:prSet presAssocID="{3D2FB8E9-035C-42A3-A94F-E5DBBE4F5439}" presName="iconRect" presStyleLbl="node1" presStyleIdx="3" presStyleCnt="4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BEE77406-265D-41CC-9048-A1C5D5A02753}" type="pres">
      <dgm:prSet presAssocID="{3D2FB8E9-035C-42A3-A94F-E5DBBE4F5439}" presName="spaceRect" presStyleCnt="0"/>
      <dgm:spPr/>
    </dgm:pt>
    <dgm:pt modelId="{22F95217-1723-4E03-BCFF-C770A84D5659}" type="pres">
      <dgm:prSet presAssocID="{3D2FB8E9-035C-42A3-A94F-E5DBBE4F543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9EC9432-DB23-40A6-BDC0-0D61FEC1CFC5}" srcId="{19FFDBFC-9CCC-49AE-A5E6-F786BEE9514E}" destId="{D995D18B-8CCA-4255-85AC-10CB0C74781D}" srcOrd="1" destOrd="0" parTransId="{26EDF070-C6F7-4662-9D22-A391ACF5D8BB}" sibTransId="{EB93AC6C-DDE1-4828-9334-AC86D435898E}"/>
    <dgm:cxn modelId="{89EEB93C-60CB-4171-AF67-6FA2583829FA}" type="presOf" srcId="{D995D18B-8CCA-4255-85AC-10CB0C74781D}" destId="{1F5FE72E-1895-46FD-9C93-D677AE5892B2}" srcOrd="0" destOrd="0" presId="urn:microsoft.com/office/officeart/2018/2/layout/IconVerticalSolidList"/>
    <dgm:cxn modelId="{6F6B6D69-8901-4B11-BAAA-88825A050A93}" type="presOf" srcId="{19FFDBFC-9CCC-49AE-A5E6-F786BEE9514E}" destId="{D8DCECC3-40F5-47E2-B88C-F775447D9255}" srcOrd="0" destOrd="0" presId="urn:microsoft.com/office/officeart/2018/2/layout/IconVerticalSolidList"/>
    <dgm:cxn modelId="{B4186A4C-DB25-4AF4-9F80-9EAB118920E0}" srcId="{19FFDBFC-9CCC-49AE-A5E6-F786BEE9514E}" destId="{9A6C5391-58CC-40ED-891D-C28046450BDF}" srcOrd="0" destOrd="0" parTransId="{2A8F2D8D-01FC-4920-9412-08279DA54A50}" sibTransId="{71DB368F-1423-4498-97F4-02BD91831D15}"/>
    <dgm:cxn modelId="{D47FCE8A-E060-45CF-B0A7-BA81F6185C0D}" type="presOf" srcId="{8A9DD580-DD8E-4B60-BDD8-BC44FF5AD954}" destId="{8CCC3A86-343B-4495-BFFE-92CEB46077F9}" srcOrd="0" destOrd="0" presId="urn:microsoft.com/office/officeart/2018/2/layout/IconVerticalSolidList"/>
    <dgm:cxn modelId="{5099E68F-29A1-49DC-AF97-089AC61892EB}" srcId="{19FFDBFC-9CCC-49AE-A5E6-F786BEE9514E}" destId="{3D2FB8E9-035C-42A3-A94F-E5DBBE4F5439}" srcOrd="3" destOrd="0" parTransId="{6898EB6F-8360-40A4-B418-642713101680}" sibTransId="{845DE882-8F0A-417E-A832-B91DC6A52C5F}"/>
    <dgm:cxn modelId="{1BA77590-A644-440E-951C-47E02D15AF53}" type="presOf" srcId="{3D2FB8E9-035C-42A3-A94F-E5DBBE4F5439}" destId="{22F95217-1723-4E03-BCFF-C770A84D5659}" srcOrd="0" destOrd="0" presId="urn:microsoft.com/office/officeart/2018/2/layout/IconVerticalSolidList"/>
    <dgm:cxn modelId="{EE52E0A7-CE48-441D-9B2C-B0CC3F9B129F}" type="presOf" srcId="{9A6C5391-58CC-40ED-891D-C28046450BDF}" destId="{92232972-1855-47CF-A800-A500FDE4E3C3}" srcOrd="0" destOrd="0" presId="urn:microsoft.com/office/officeart/2018/2/layout/IconVerticalSolidList"/>
    <dgm:cxn modelId="{6FC0EAD7-7F5D-428C-9EEA-AAE09DF089FD}" srcId="{19FFDBFC-9CCC-49AE-A5E6-F786BEE9514E}" destId="{8A9DD580-DD8E-4B60-BDD8-BC44FF5AD954}" srcOrd="2" destOrd="0" parTransId="{30FBF9BE-0641-4B2A-8E63-38E4ACCDAF91}" sibTransId="{725FB600-71C4-4995-A88C-7562170C8B8D}"/>
    <dgm:cxn modelId="{791320EB-9BB6-406C-8EF3-DF42FEFB360B}" type="presParOf" srcId="{D8DCECC3-40F5-47E2-B88C-F775447D9255}" destId="{E5942322-6197-4353-95B8-B52A71A21538}" srcOrd="0" destOrd="0" presId="urn:microsoft.com/office/officeart/2018/2/layout/IconVerticalSolidList"/>
    <dgm:cxn modelId="{906C24A0-C3A3-46DD-A7F0-CD02F3374699}" type="presParOf" srcId="{E5942322-6197-4353-95B8-B52A71A21538}" destId="{B658DAF3-2DEE-4F29-903B-707C57997389}" srcOrd="0" destOrd="0" presId="urn:microsoft.com/office/officeart/2018/2/layout/IconVerticalSolidList"/>
    <dgm:cxn modelId="{468742D9-7092-4399-8272-36089C21AE29}" type="presParOf" srcId="{E5942322-6197-4353-95B8-B52A71A21538}" destId="{33D17F4E-C82F-45DB-91DC-2463F2886650}" srcOrd="1" destOrd="0" presId="urn:microsoft.com/office/officeart/2018/2/layout/IconVerticalSolidList"/>
    <dgm:cxn modelId="{216D7D03-C10D-4FA3-942B-39A01535A11F}" type="presParOf" srcId="{E5942322-6197-4353-95B8-B52A71A21538}" destId="{740BA01E-0B7B-4884-9C1C-32D8B9529931}" srcOrd="2" destOrd="0" presId="urn:microsoft.com/office/officeart/2018/2/layout/IconVerticalSolidList"/>
    <dgm:cxn modelId="{911B7BEF-81FC-4B8B-8D50-1A7D4A3CA65A}" type="presParOf" srcId="{E5942322-6197-4353-95B8-B52A71A21538}" destId="{92232972-1855-47CF-A800-A500FDE4E3C3}" srcOrd="3" destOrd="0" presId="urn:microsoft.com/office/officeart/2018/2/layout/IconVerticalSolidList"/>
    <dgm:cxn modelId="{4D076BC1-A661-41FE-AF23-F248EB12DE44}" type="presParOf" srcId="{D8DCECC3-40F5-47E2-B88C-F775447D9255}" destId="{D745A95D-400D-415A-B8D1-A5EB92A2C6B1}" srcOrd="1" destOrd="0" presId="urn:microsoft.com/office/officeart/2018/2/layout/IconVerticalSolidList"/>
    <dgm:cxn modelId="{EE649CA8-E660-4B09-A632-FDDDE004BC03}" type="presParOf" srcId="{D8DCECC3-40F5-47E2-B88C-F775447D9255}" destId="{C6F0123A-0A57-4813-949E-AEDD4B2A7450}" srcOrd="2" destOrd="0" presId="urn:microsoft.com/office/officeart/2018/2/layout/IconVerticalSolidList"/>
    <dgm:cxn modelId="{7A0C4BDC-4653-407D-84D2-970C8D01A974}" type="presParOf" srcId="{C6F0123A-0A57-4813-949E-AEDD4B2A7450}" destId="{397B7844-1E12-4D07-8568-0DAA952668BC}" srcOrd="0" destOrd="0" presId="urn:microsoft.com/office/officeart/2018/2/layout/IconVerticalSolidList"/>
    <dgm:cxn modelId="{522AB84A-023A-478E-979B-CECE4A47DB46}" type="presParOf" srcId="{C6F0123A-0A57-4813-949E-AEDD4B2A7450}" destId="{DE340838-FC45-42C8-8A51-804F0FCE0818}" srcOrd="1" destOrd="0" presId="urn:microsoft.com/office/officeart/2018/2/layout/IconVerticalSolidList"/>
    <dgm:cxn modelId="{1EA3913E-CF1D-4C1C-A432-D09224AA58D7}" type="presParOf" srcId="{C6F0123A-0A57-4813-949E-AEDD4B2A7450}" destId="{EFBBAC55-CCF1-4F45-8F52-0F5BFA558BF0}" srcOrd="2" destOrd="0" presId="urn:microsoft.com/office/officeart/2018/2/layout/IconVerticalSolidList"/>
    <dgm:cxn modelId="{4F73B821-16B3-4849-B208-331A0D6810FC}" type="presParOf" srcId="{C6F0123A-0A57-4813-949E-AEDD4B2A7450}" destId="{1F5FE72E-1895-46FD-9C93-D677AE5892B2}" srcOrd="3" destOrd="0" presId="urn:microsoft.com/office/officeart/2018/2/layout/IconVerticalSolidList"/>
    <dgm:cxn modelId="{201973F2-2A7C-47F5-AB46-BAD361D364EC}" type="presParOf" srcId="{D8DCECC3-40F5-47E2-B88C-F775447D9255}" destId="{BC793814-9D1A-4EA6-98C9-F06624E85CCC}" srcOrd="3" destOrd="0" presId="urn:microsoft.com/office/officeart/2018/2/layout/IconVerticalSolidList"/>
    <dgm:cxn modelId="{5F072F77-CE82-431A-9EC3-F5E509A53C44}" type="presParOf" srcId="{D8DCECC3-40F5-47E2-B88C-F775447D9255}" destId="{D49BC87E-C3C6-4AE7-AAAD-5283042346CA}" srcOrd="4" destOrd="0" presId="urn:microsoft.com/office/officeart/2018/2/layout/IconVerticalSolidList"/>
    <dgm:cxn modelId="{84855119-3141-4A86-9BF0-205018CB4F9C}" type="presParOf" srcId="{D49BC87E-C3C6-4AE7-AAAD-5283042346CA}" destId="{7AD29496-DF09-4601-9815-A63C61AB300A}" srcOrd="0" destOrd="0" presId="urn:microsoft.com/office/officeart/2018/2/layout/IconVerticalSolidList"/>
    <dgm:cxn modelId="{22801F43-FB8B-49C0-9222-95B67C777DF7}" type="presParOf" srcId="{D49BC87E-C3C6-4AE7-AAAD-5283042346CA}" destId="{EE8BDDA8-DCF9-450B-9E4E-CDEC25B05D95}" srcOrd="1" destOrd="0" presId="urn:microsoft.com/office/officeart/2018/2/layout/IconVerticalSolidList"/>
    <dgm:cxn modelId="{A638AC18-2622-4FD1-9EE8-7257C8D0F69E}" type="presParOf" srcId="{D49BC87E-C3C6-4AE7-AAAD-5283042346CA}" destId="{F3697EF9-89A4-4104-870D-9123EE8130CD}" srcOrd="2" destOrd="0" presId="urn:microsoft.com/office/officeart/2018/2/layout/IconVerticalSolidList"/>
    <dgm:cxn modelId="{A5918985-D395-42AC-A5DB-548E7141C86F}" type="presParOf" srcId="{D49BC87E-C3C6-4AE7-AAAD-5283042346CA}" destId="{8CCC3A86-343B-4495-BFFE-92CEB46077F9}" srcOrd="3" destOrd="0" presId="urn:microsoft.com/office/officeart/2018/2/layout/IconVerticalSolidList"/>
    <dgm:cxn modelId="{8874C27F-865C-49E2-A74A-34198AE3B24E}" type="presParOf" srcId="{D8DCECC3-40F5-47E2-B88C-F775447D9255}" destId="{6BC111D0-ED68-4A76-AB81-2311E83FFE6E}" srcOrd="5" destOrd="0" presId="urn:microsoft.com/office/officeart/2018/2/layout/IconVerticalSolidList"/>
    <dgm:cxn modelId="{B7659BD5-6CF4-45DB-A3E0-3A4836D82C22}" type="presParOf" srcId="{D8DCECC3-40F5-47E2-B88C-F775447D9255}" destId="{F5983993-4AA0-4070-9892-4DF9457CEF0D}" srcOrd="6" destOrd="0" presId="urn:microsoft.com/office/officeart/2018/2/layout/IconVerticalSolidList"/>
    <dgm:cxn modelId="{96F94AF0-668F-4910-936A-531719BBB3F1}" type="presParOf" srcId="{F5983993-4AA0-4070-9892-4DF9457CEF0D}" destId="{2744CC8E-6E0B-4E3F-913F-F3DA3B4FFB26}" srcOrd="0" destOrd="0" presId="urn:microsoft.com/office/officeart/2018/2/layout/IconVerticalSolidList"/>
    <dgm:cxn modelId="{1DD8C308-7E93-400B-9270-B9B1167DABE8}" type="presParOf" srcId="{F5983993-4AA0-4070-9892-4DF9457CEF0D}" destId="{3980077C-640C-4004-93F3-CBECAB75BCE7}" srcOrd="1" destOrd="0" presId="urn:microsoft.com/office/officeart/2018/2/layout/IconVerticalSolidList"/>
    <dgm:cxn modelId="{9885D923-E0FD-4B87-A1FC-2F3C171ED19C}" type="presParOf" srcId="{F5983993-4AA0-4070-9892-4DF9457CEF0D}" destId="{BEE77406-265D-41CC-9048-A1C5D5A02753}" srcOrd="2" destOrd="0" presId="urn:microsoft.com/office/officeart/2018/2/layout/IconVerticalSolidList"/>
    <dgm:cxn modelId="{C6CD44A0-20FB-4F77-B743-F842C53650D3}" type="presParOf" srcId="{F5983993-4AA0-4070-9892-4DF9457CEF0D}" destId="{22F95217-1723-4E03-BCFF-C770A84D565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669E1C-BBE0-4695-A4DE-E4EE83960F94}" type="doc">
      <dgm:prSet loTypeId="urn:microsoft.com/office/officeart/2005/8/layout/list1" loCatId="list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7A0F482B-6799-4535-8AEE-903035F6F889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Sole Proprietorships</a:t>
          </a:r>
        </a:p>
      </dgm:t>
    </dgm:pt>
    <dgm:pt modelId="{ABF05ECF-FC1C-499E-90CD-59DFF2CF3217}" type="parTrans" cxnId="{D327B13C-A779-441C-A173-DE35EC3B886C}">
      <dgm:prSet/>
      <dgm:spPr/>
      <dgm:t>
        <a:bodyPr/>
        <a:lstStyle/>
        <a:p>
          <a:endParaRPr lang="en-US"/>
        </a:p>
      </dgm:t>
    </dgm:pt>
    <dgm:pt modelId="{52A8CC6E-C44C-40F3-8CC6-A2534683D2B7}" type="sibTrans" cxnId="{D327B13C-A779-441C-A173-DE35EC3B886C}">
      <dgm:prSet/>
      <dgm:spPr/>
      <dgm:t>
        <a:bodyPr/>
        <a:lstStyle/>
        <a:p>
          <a:endParaRPr lang="en-US"/>
        </a:p>
      </dgm:t>
    </dgm:pt>
    <dgm:pt modelId="{2C658161-ADEE-44A4-BE55-85238F861795}">
      <dgm:prSet/>
      <dgm:spPr/>
      <dgm:t>
        <a:bodyPr/>
        <a:lstStyle/>
        <a:p>
          <a:r>
            <a:rPr lang="en-US" dirty="0"/>
            <a:t> </a:t>
          </a:r>
        </a:p>
      </dgm:t>
    </dgm:pt>
    <dgm:pt modelId="{260D0AF6-6F2A-428D-8E36-6D677D233A42}" type="parTrans" cxnId="{BA391AC2-40D6-48C7-8BC1-E3A444BEE58C}">
      <dgm:prSet/>
      <dgm:spPr/>
      <dgm:t>
        <a:bodyPr/>
        <a:lstStyle/>
        <a:p>
          <a:endParaRPr lang="en-US"/>
        </a:p>
      </dgm:t>
    </dgm:pt>
    <dgm:pt modelId="{EBC4AD8C-12FA-4233-B626-5AC445454443}" type="sibTrans" cxnId="{BA391AC2-40D6-48C7-8BC1-E3A444BEE58C}">
      <dgm:prSet/>
      <dgm:spPr/>
      <dgm:t>
        <a:bodyPr/>
        <a:lstStyle/>
        <a:p>
          <a:endParaRPr lang="en-US"/>
        </a:p>
      </dgm:t>
    </dgm:pt>
    <dgm:pt modelId="{C99AAB47-337C-449C-9864-F4620A5D3F66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Partnerships</a:t>
          </a:r>
        </a:p>
      </dgm:t>
    </dgm:pt>
    <dgm:pt modelId="{5C23D1DB-4AF1-4021-A831-49C6DA808E8C}" type="parTrans" cxnId="{2E9ED43A-77BE-4C71-8C38-83220BB6D84E}">
      <dgm:prSet/>
      <dgm:spPr/>
      <dgm:t>
        <a:bodyPr/>
        <a:lstStyle/>
        <a:p>
          <a:endParaRPr lang="en-US"/>
        </a:p>
      </dgm:t>
    </dgm:pt>
    <dgm:pt modelId="{2B057CFE-AAE7-4185-9412-0E8A6B59FAD3}" type="sibTrans" cxnId="{2E9ED43A-77BE-4C71-8C38-83220BB6D84E}">
      <dgm:prSet/>
      <dgm:spPr/>
      <dgm:t>
        <a:bodyPr/>
        <a:lstStyle/>
        <a:p>
          <a:endParaRPr lang="en-US"/>
        </a:p>
      </dgm:t>
    </dgm:pt>
    <dgm:pt modelId="{28485515-C1C3-40D7-AD55-55CFEE62ED40}">
      <dgm:prSet/>
      <dgm:spPr/>
      <dgm:t>
        <a:bodyPr/>
        <a:lstStyle/>
        <a:p>
          <a:r>
            <a:rPr lang="en-US" dirty="0"/>
            <a:t> </a:t>
          </a:r>
        </a:p>
      </dgm:t>
    </dgm:pt>
    <dgm:pt modelId="{47A3A2B7-3C03-450F-9FDF-B5D9633E9540}" type="parTrans" cxnId="{FA754FF2-4766-421D-8430-0A2A3CA3DEF1}">
      <dgm:prSet/>
      <dgm:spPr/>
      <dgm:t>
        <a:bodyPr/>
        <a:lstStyle/>
        <a:p>
          <a:endParaRPr lang="en-US"/>
        </a:p>
      </dgm:t>
    </dgm:pt>
    <dgm:pt modelId="{30011F81-E49F-464C-A3BB-E5E4EF8EDEC5}" type="sibTrans" cxnId="{FA754FF2-4766-421D-8430-0A2A3CA3DEF1}">
      <dgm:prSet/>
      <dgm:spPr/>
      <dgm:t>
        <a:bodyPr/>
        <a:lstStyle/>
        <a:p>
          <a:endParaRPr lang="en-US"/>
        </a:p>
      </dgm:t>
    </dgm:pt>
    <dgm:pt modelId="{EBE18C96-3A2F-477A-8B4E-E5DED098C13C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/>
            <a:t>Corporations</a:t>
          </a:r>
        </a:p>
      </dgm:t>
    </dgm:pt>
    <dgm:pt modelId="{6927B83A-F00C-4F42-BB3E-7A1EE328B505}" type="parTrans" cxnId="{BACB8354-E18A-4E27-AB70-942A69D4AF95}">
      <dgm:prSet/>
      <dgm:spPr/>
      <dgm:t>
        <a:bodyPr/>
        <a:lstStyle/>
        <a:p>
          <a:endParaRPr lang="en-US"/>
        </a:p>
      </dgm:t>
    </dgm:pt>
    <dgm:pt modelId="{4865668D-E2F1-4BA8-BE2E-83FE5A0E58B3}" type="sibTrans" cxnId="{BACB8354-E18A-4E27-AB70-942A69D4AF95}">
      <dgm:prSet/>
      <dgm:spPr/>
      <dgm:t>
        <a:bodyPr/>
        <a:lstStyle/>
        <a:p>
          <a:endParaRPr lang="en-US"/>
        </a:p>
      </dgm:t>
    </dgm:pt>
    <dgm:pt modelId="{7E3E9DBF-E47A-4EA4-93A1-66408C02817E}">
      <dgm:prSet/>
      <dgm:spPr/>
      <dgm:t>
        <a:bodyPr/>
        <a:lstStyle/>
        <a:p>
          <a:r>
            <a:rPr lang="en-US" dirty="0"/>
            <a:t> </a:t>
          </a:r>
        </a:p>
      </dgm:t>
    </dgm:pt>
    <dgm:pt modelId="{4DEE8CDE-6E4E-4C5F-9437-A36B1CBF6926}" type="parTrans" cxnId="{2E3CDE7F-72BE-4E9A-82F5-7C43DE1A0DC5}">
      <dgm:prSet/>
      <dgm:spPr/>
      <dgm:t>
        <a:bodyPr/>
        <a:lstStyle/>
        <a:p>
          <a:endParaRPr lang="en-US"/>
        </a:p>
      </dgm:t>
    </dgm:pt>
    <dgm:pt modelId="{853FA1F7-62E8-4A17-8D28-035EC9D57CA5}" type="sibTrans" cxnId="{2E3CDE7F-72BE-4E9A-82F5-7C43DE1A0DC5}">
      <dgm:prSet/>
      <dgm:spPr/>
      <dgm:t>
        <a:bodyPr/>
        <a:lstStyle/>
        <a:p>
          <a:endParaRPr lang="en-US"/>
        </a:p>
      </dgm:t>
    </dgm:pt>
    <dgm:pt modelId="{13C66FC2-9F99-445D-8E71-0D960D20DB91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Not-for-Profit Corporations</a:t>
          </a:r>
        </a:p>
      </dgm:t>
    </dgm:pt>
    <dgm:pt modelId="{7C7C7045-301F-4521-909E-20A2AAD8185A}" type="parTrans" cxnId="{59C2EA99-F843-473F-AE47-4CC473188A66}">
      <dgm:prSet/>
      <dgm:spPr/>
      <dgm:t>
        <a:bodyPr/>
        <a:lstStyle/>
        <a:p>
          <a:endParaRPr lang="en-US"/>
        </a:p>
      </dgm:t>
    </dgm:pt>
    <dgm:pt modelId="{AB8D7ED6-4EEC-46C1-B44F-7840F4C5E3AD}" type="sibTrans" cxnId="{59C2EA99-F843-473F-AE47-4CC473188A66}">
      <dgm:prSet/>
      <dgm:spPr/>
      <dgm:t>
        <a:bodyPr/>
        <a:lstStyle/>
        <a:p>
          <a:endParaRPr lang="en-US"/>
        </a:p>
      </dgm:t>
    </dgm:pt>
    <dgm:pt modelId="{B68FEC9C-32C6-4B23-AF62-76A2B33DA69D}">
      <dgm:prSet/>
      <dgm:spPr/>
      <dgm:t>
        <a:bodyPr/>
        <a:lstStyle/>
        <a:p>
          <a:r>
            <a:rPr lang="en-US" dirty="0"/>
            <a:t> </a:t>
          </a:r>
        </a:p>
      </dgm:t>
    </dgm:pt>
    <dgm:pt modelId="{1DDA1738-F987-412E-9484-5A7CE5E47B80}" type="parTrans" cxnId="{9F48C126-A196-4D52-8ED8-5C3104FFA5F3}">
      <dgm:prSet/>
      <dgm:spPr/>
      <dgm:t>
        <a:bodyPr/>
        <a:lstStyle/>
        <a:p>
          <a:endParaRPr lang="en-US"/>
        </a:p>
      </dgm:t>
    </dgm:pt>
    <dgm:pt modelId="{AF4234CB-05EA-4589-9EF3-A933C57AC1AE}" type="sibTrans" cxnId="{9F48C126-A196-4D52-8ED8-5C3104FFA5F3}">
      <dgm:prSet/>
      <dgm:spPr/>
      <dgm:t>
        <a:bodyPr/>
        <a:lstStyle/>
        <a:p>
          <a:endParaRPr lang="en-US"/>
        </a:p>
      </dgm:t>
    </dgm:pt>
    <dgm:pt modelId="{0EC78A02-DB13-4A32-BDFF-9D505511D799}" type="pres">
      <dgm:prSet presAssocID="{92669E1C-BBE0-4695-A4DE-E4EE83960F94}" presName="linear" presStyleCnt="0">
        <dgm:presLayoutVars>
          <dgm:dir/>
          <dgm:animLvl val="lvl"/>
          <dgm:resizeHandles val="exact"/>
        </dgm:presLayoutVars>
      </dgm:prSet>
      <dgm:spPr/>
    </dgm:pt>
    <dgm:pt modelId="{B97BBD0F-2590-49D8-9E7D-C91334AD6FFE}" type="pres">
      <dgm:prSet presAssocID="{7A0F482B-6799-4535-8AEE-903035F6F889}" presName="parentLin" presStyleCnt="0"/>
      <dgm:spPr/>
    </dgm:pt>
    <dgm:pt modelId="{1E9D215A-2D2F-426A-845B-7A3FD766F089}" type="pres">
      <dgm:prSet presAssocID="{7A0F482B-6799-4535-8AEE-903035F6F889}" presName="parentLeftMargin" presStyleLbl="node1" presStyleIdx="0" presStyleCnt="4"/>
      <dgm:spPr/>
    </dgm:pt>
    <dgm:pt modelId="{68F09E27-5CAE-45FE-A3F1-82A2892E0121}" type="pres">
      <dgm:prSet presAssocID="{7A0F482B-6799-4535-8AEE-903035F6F88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37A3A5C-B060-4B14-8076-51E5F708AD38}" type="pres">
      <dgm:prSet presAssocID="{7A0F482B-6799-4535-8AEE-903035F6F889}" presName="negativeSpace" presStyleCnt="0"/>
      <dgm:spPr/>
    </dgm:pt>
    <dgm:pt modelId="{0231F454-6A5D-46D3-86F4-87ED63A6831F}" type="pres">
      <dgm:prSet presAssocID="{7A0F482B-6799-4535-8AEE-903035F6F889}" presName="childText" presStyleLbl="conFgAcc1" presStyleIdx="0" presStyleCnt="4">
        <dgm:presLayoutVars>
          <dgm:bulletEnabled val="1"/>
        </dgm:presLayoutVars>
      </dgm:prSet>
      <dgm:spPr/>
    </dgm:pt>
    <dgm:pt modelId="{0E9D7CBA-4EE2-4982-A33D-4996E2F91E5A}" type="pres">
      <dgm:prSet presAssocID="{52A8CC6E-C44C-40F3-8CC6-A2534683D2B7}" presName="spaceBetweenRectangles" presStyleCnt="0"/>
      <dgm:spPr/>
    </dgm:pt>
    <dgm:pt modelId="{7765FBA4-9772-4DDE-AA04-FD0654C77C9B}" type="pres">
      <dgm:prSet presAssocID="{C99AAB47-337C-449C-9864-F4620A5D3F66}" presName="parentLin" presStyleCnt="0"/>
      <dgm:spPr/>
    </dgm:pt>
    <dgm:pt modelId="{6D9E5FF3-1171-467C-9D4C-6304ADCFAAAC}" type="pres">
      <dgm:prSet presAssocID="{C99AAB47-337C-449C-9864-F4620A5D3F66}" presName="parentLeftMargin" presStyleLbl="node1" presStyleIdx="0" presStyleCnt="4"/>
      <dgm:spPr/>
    </dgm:pt>
    <dgm:pt modelId="{417F7706-15BA-444C-8B59-B23114F27EFB}" type="pres">
      <dgm:prSet presAssocID="{C99AAB47-337C-449C-9864-F4620A5D3F6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99B5AA9-D495-4BDB-B004-A25CDC924FE3}" type="pres">
      <dgm:prSet presAssocID="{C99AAB47-337C-449C-9864-F4620A5D3F66}" presName="negativeSpace" presStyleCnt="0"/>
      <dgm:spPr/>
    </dgm:pt>
    <dgm:pt modelId="{1A50D50E-78FE-4EDE-BBFB-6C40A8F11943}" type="pres">
      <dgm:prSet presAssocID="{C99AAB47-337C-449C-9864-F4620A5D3F66}" presName="childText" presStyleLbl="conFgAcc1" presStyleIdx="1" presStyleCnt="4">
        <dgm:presLayoutVars>
          <dgm:bulletEnabled val="1"/>
        </dgm:presLayoutVars>
      </dgm:prSet>
      <dgm:spPr/>
    </dgm:pt>
    <dgm:pt modelId="{A822A474-ABFA-4093-82BE-7787B6C56906}" type="pres">
      <dgm:prSet presAssocID="{2B057CFE-AAE7-4185-9412-0E8A6B59FAD3}" presName="spaceBetweenRectangles" presStyleCnt="0"/>
      <dgm:spPr/>
    </dgm:pt>
    <dgm:pt modelId="{980A19B3-8769-4591-9C07-1FBAEB0D3C41}" type="pres">
      <dgm:prSet presAssocID="{EBE18C96-3A2F-477A-8B4E-E5DED098C13C}" presName="parentLin" presStyleCnt="0"/>
      <dgm:spPr/>
    </dgm:pt>
    <dgm:pt modelId="{C7912AC5-5A75-41C5-9811-4CBAD542DD09}" type="pres">
      <dgm:prSet presAssocID="{EBE18C96-3A2F-477A-8B4E-E5DED098C13C}" presName="parentLeftMargin" presStyleLbl="node1" presStyleIdx="1" presStyleCnt="4"/>
      <dgm:spPr/>
    </dgm:pt>
    <dgm:pt modelId="{4B70CF65-724E-4012-ADB0-95E9988371F9}" type="pres">
      <dgm:prSet presAssocID="{EBE18C96-3A2F-477A-8B4E-E5DED098C13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1F26C5E-F3E3-4959-B53B-C3AF233FB14D}" type="pres">
      <dgm:prSet presAssocID="{EBE18C96-3A2F-477A-8B4E-E5DED098C13C}" presName="negativeSpace" presStyleCnt="0"/>
      <dgm:spPr/>
    </dgm:pt>
    <dgm:pt modelId="{8A97202C-4C08-4335-B899-6057E89EB386}" type="pres">
      <dgm:prSet presAssocID="{EBE18C96-3A2F-477A-8B4E-E5DED098C13C}" presName="childText" presStyleLbl="conFgAcc1" presStyleIdx="2" presStyleCnt="4">
        <dgm:presLayoutVars>
          <dgm:bulletEnabled val="1"/>
        </dgm:presLayoutVars>
      </dgm:prSet>
      <dgm:spPr/>
    </dgm:pt>
    <dgm:pt modelId="{32E7E187-BD39-4612-8A52-66C901BC52C0}" type="pres">
      <dgm:prSet presAssocID="{4865668D-E2F1-4BA8-BE2E-83FE5A0E58B3}" presName="spaceBetweenRectangles" presStyleCnt="0"/>
      <dgm:spPr/>
    </dgm:pt>
    <dgm:pt modelId="{477CA0CB-BAFB-4A8D-9EBC-4002D08DEFF2}" type="pres">
      <dgm:prSet presAssocID="{13C66FC2-9F99-445D-8E71-0D960D20DB91}" presName="parentLin" presStyleCnt="0"/>
      <dgm:spPr/>
    </dgm:pt>
    <dgm:pt modelId="{DE8D7E1F-5692-4FC3-B062-C616F096F4F2}" type="pres">
      <dgm:prSet presAssocID="{13C66FC2-9F99-445D-8E71-0D960D20DB91}" presName="parentLeftMargin" presStyleLbl="node1" presStyleIdx="2" presStyleCnt="4"/>
      <dgm:spPr/>
    </dgm:pt>
    <dgm:pt modelId="{38183EEB-153E-4233-8DCF-716978AAFA68}" type="pres">
      <dgm:prSet presAssocID="{13C66FC2-9F99-445D-8E71-0D960D20DB91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19535B8-30B9-476C-8D57-555D622A6068}" type="pres">
      <dgm:prSet presAssocID="{13C66FC2-9F99-445D-8E71-0D960D20DB91}" presName="negativeSpace" presStyleCnt="0"/>
      <dgm:spPr/>
    </dgm:pt>
    <dgm:pt modelId="{FD5DD3EB-200D-4C5D-BB8B-558A2008FF9C}" type="pres">
      <dgm:prSet presAssocID="{13C66FC2-9F99-445D-8E71-0D960D20DB91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F48C126-A196-4D52-8ED8-5C3104FFA5F3}" srcId="{13C66FC2-9F99-445D-8E71-0D960D20DB91}" destId="{B68FEC9C-32C6-4B23-AF62-76A2B33DA69D}" srcOrd="0" destOrd="0" parTransId="{1DDA1738-F987-412E-9484-5A7CE5E47B80}" sibTransId="{AF4234CB-05EA-4589-9EF3-A933C57AC1AE}"/>
    <dgm:cxn modelId="{2E9ED43A-77BE-4C71-8C38-83220BB6D84E}" srcId="{92669E1C-BBE0-4695-A4DE-E4EE83960F94}" destId="{C99AAB47-337C-449C-9864-F4620A5D3F66}" srcOrd="1" destOrd="0" parTransId="{5C23D1DB-4AF1-4021-A831-49C6DA808E8C}" sibTransId="{2B057CFE-AAE7-4185-9412-0E8A6B59FAD3}"/>
    <dgm:cxn modelId="{D327B13C-A779-441C-A173-DE35EC3B886C}" srcId="{92669E1C-BBE0-4695-A4DE-E4EE83960F94}" destId="{7A0F482B-6799-4535-8AEE-903035F6F889}" srcOrd="0" destOrd="0" parTransId="{ABF05ECF-FC1C-499E-90CD-59DFF2CF3217}" sibTransId="{52A8CC6E-C44C-40F3-8CC6-A2534683D2B7}"/>
    <dgm:cxn modelId="{0F921F45-0593-4089-89DD-310A2907F5BC}" type="presOf" srcId="{28485515-C1C3-40D7-AD55-55CFEE62ED40}" destId="{1A50D50E-78FE-4EDE-BBFB-6C40A8F11943}" srcOrd="0" destOrd="0" presId="urn:microsoft.com/office/officeart/2005/8/layout/list1"/>
    <dgm:cxn modelId="{C1409A51-206C-4245-8185-5BEB171661C9}" type="presOf" srcId="{7E3E9DBF-E47A-4EA4-93A1-66408C02817E}" destId="{8A97202C-4C08-4335-B899-6057E89EB386}" srcOrd="0" destOrd="0" presId="urn:microsoft.com/office/officeart/2005/8/layout/list1"/>
    <dgm:cxn modelId="{BACB8354-E18A-4E27-AB70-942A69D4AF95}" srcId="{92669E1C-BBE0-4695-A4DE-E4EE83960F94}" destId="{EBE18C96-3A2F-477A-8B4E-E5DED098C13C}" srcOrd="2" destOrd="0" parTransId="{6927B83A-F00C-4F42-BB3E-7A1EE328B505}" sibTransId="{4865668D-E2F1-4BA8-BE2E-83FE5A0E58B3}"/>
    <dgm:cxn modelId="{9AC8FE56-1AF9-46D3-891C-378827E14750}" type="presOf" srcId="{13C66FC2-9F99-445D-8E71-0D960D20DB91}" destId="{38183EEB-153E-4233-8DCF-716978AAFA68}" srcOrd="1" destOrd="0" presId="urn:microsoft.com/office/officeart/2005/8/layout/list1"/>
    <dgm:cxn modelId="{1E1B7C57-4E5C-4168-B1B5-8F3CE31526CC}" type="presOf" srcId="{C99AAB47-337C-449C-9864-F4620A5D3F66}" destId="{417F7706-15BA-444C-8B59-B23114F27EFB}" srcOrd="1" destOrd="0" presId="urn:microsoft.com/office/officeart/2005/8/layout/list1"/>
    <dgm:cxn modelId="{380AA258-1C91-46BF-80B3-3D06F031E15E}" type="presOf" srcId="{C99AAB47-337C-449C-9864-F4620A5D3F66}" destId="{6D9E5FF3-1171-467C-9D4C-6304ADCFAAAC}" srcOrd="0" destOrd="0" presId="urn:microsoft.com/office/officeart/2005/8/layout/list1"/>
    <dgm:cxn modelId="{1516DE59-373D-48CD-96B9-1090D812B86A}" type="presOf" srcId="{7A0F482B-6799-4535-8AEE-903035F6F889}" destId="{1E9D215A-2D2F-426A-845B-7A3FD766F089}" srcOrd="0" destOrd="0" presId="urn:microsoft.com/office/officeart/2005/8/layout/list1"/>
    <dgm:cxn modelId="{90C2FF7D-369B-4F41-939C-B610E62C16F7}" type="presOf" srcId="{B68FEC9C-32C6-4B23-AF62-76A2B33DA69D}" destId="{FD5DD3EB-200D-4C5D-BB8B-558A2008FF9C}" srcOrd="0" destOrd="0" presId="urn:microsoft.com/office/officeart/2005/8/layout/list1"/>
    <dgm:cxn modelId="{2E3CDE7F-72BE-4E9A-82F5-7C43DE1A0DC5}" srcId="{EBE18C96-3A2F-477A-8B4E-E5DED098C13C}" destId="{7E3E9DBF-E47A-4EA4-93A1-66408C02817E}" srcOrd="0" destOrd="0" parTransId="{4DEE8CDE-6E4E-4C5F-9437-A36B1CBF6926}" sibTransId="{853FA1F7-62E8-4A17-8D28-035EC9D57CA5}"/>
    <dgm:cxn modelId="{59C2EA99-F843-473F-AE47-4CC473188A66}" srcId="{92669E1C-BBE0-4695-A4DE-E4EE83960F94}" destId="{13C66FC2-9F99-445D-8E71-0D960D20DB91}" srcOrd="3" destOrd="0" parTransId="{7C7C7045-301F-4521-909E-20A2AAD8185A}" sibTransId="{AB8D7ED6-4EEC-46C1-B44F-7840F4C5E3AD}"/>
    <dgm:cxn modelId="{498DCE9E-C426-4F37-A528-455425331A9F}" type="presOf" srcId="{EBE18C96-3A2F-477A-8B4E-E5DED098C13C}" destId="{4B70CF65-724E-4012-ADB0-95E9988371F9}" srcOrd="1" destOrd="0" presId="urn:microsoft.com/office/officeart/2005/8/layout/list1"/>
    <dgm:cxn modelId="{BA391AC2-40D6-48C7-8BC1-E3A444BEE58C}" srcId="{7A0F482B-6799-4535-8AEE-903035F6F889}" destId="{2C658161-ADEE-44A4-BE55-85238F861795}" srcOrd="0" destOrd="0" parTransId="{260D0AF6-6F2A-428D-8E36-6D677D233A42}" sibTransId="{EBC4AD8C-12FA-4233-B626-5AC445454443}"/>
    <dgm:cxn modelId="{9F1E80D3-5D1D-4756-8227-16CA82EFCD3C}" type="presOf" srcId="{2C658161-ADEE-44A4-BE55-85238F861795}" destId="{0231F454-6A5D-46D3-86F4-87ED63A6831F}" srcOrd="0" destOrd="0" presId="urn:microsoft.com/office/officeart/2005/8/layout/list1"/>
    <dgm:cxn modelId="{07D564DB-5F38-4739-ACCB-3F53F0B27D82}" type="presOf" srcId="{7A0F482B-6799-4535-8AEE-903035F6F889}" destId="{68F09E27-5CAE-45FE-A3F1-82A2892E0121}" srcOrd="1" destOrd="0" presId="urn:microsoft.com/office/officeart/2005/8/layout/list1"/>
    <dgm:cxn modelId="{E9E9EEDD-D6E1-4E22-AA77-8A5725FD8803}" type="presOf" srcId="{EBE18C96-3A2F-477A-8B4E-E5DED098C13C}" destId="{C7912AC5-5A75-41C5-9811-4CBAD542DD09}" srcOrd="0" destOrd="0" presId="urn:microsoft.com/office/officeart/2005/8/layout/list1"/>
    <dgm:cxn modelId="{B9501BE1-3248-409F-B7D8-D734F9AFF966}" type="presOf" srcId="{92669E1C-BBE0-4695-A4DE-E4EE83960F94}" destId="{0EC78A02-DB13-4A32-BDFF-9D505511D799}" srcOrd="0" destOrd="0" presId="urn:microsoft.com/office/officeart/2005/8/layout/list1"/>
    <dgm:cxn modelId="{DAABAAE1-7AC0-4EDC-ADF5-5F1633C59725}" type="presOf" srcId="{13C66FC2-9F99-445D-8E71-0D960D20DB91}" destId="{DE8D7E1F-5692-4FC3-B062-C616F096F4F2}" srcOrd="0" destOrd="0" presId="urn:microsoft.com/office/officeart/2005/8/layout/list1"/>
    <dgm:cxn modelId="{FA754FF2-4766-421D-8430-0A2A3CA3DEF1}" srcId="{C99AAB47-337C-449C-9864-F4620A5D3F66}" destId="{28485515-C1C3-40D7-AD55-55CFEE62ED40}" srcOrd="0" destOrd="0" parTransId="{47A3A2B7-3C03-450F-9FDF-B5D9633E9540}" sibTransId="{30011F81-E49F-464C-A3BB-E5E4EF8EDEC5}"/>
    <dgm:cxn modelId="{C661AAC2-2F7B-4C1B-AAB7-A168B40AC237}" type="presParOf" srcId="{0EC78A02-DB13-4A32-BDFF-9D505511D799}" destId="{B97BBD0F-2590-49D8-9E7D-C91334AD6FFE}" srcOrd="0" destOrd="0" presId="urn:microsoft.com/office/officeart/2005/8/layout/list1"/>
    <dgm:cxn modelId="{62CD9B27-8522-482A-8A09-FC636EA5C2F8}" type="presParOf" srcId="{B97BBD0F-2590-49D8-9E7D-C91334AD6FFE}" destId="{1E9D215A-2D2F-426A-845B-7A3FD766F089}" srcOrd="0" destOrd="0" presId="urn:microsoft.com/office/officeart/2005/8/layout/list1"/>
    <dgm:cxn modelId="{1EC6C4ED-8BF2-4D41-9737-167FB58A9FAE}" type="presParOf" srcId="{B97BBD0F-2590-49D8-9E7D-C91334AD6FFE}" destId="{68F09E27-5CAE-45FE-A3F1-82A2892E0121}" srcOrd="1" destOrd="0" presId="urn:microsoft.com/office/officeart/2005/8/layout/list1"/>
    <dgm:cxn modelId="{C2A1363E-5FD4-44F5-8369-6EE7BE799628}" type="presParOf" srcId="{0EC78A02-DB13-4A32-BDFF-9D505511D799}" destId="{837A3A5C-B060-4B14-8076-51E5F708AD38}" srcOrd="1" destOrd="0" presId="urn:microsoft.com/office/officeart/2005/8/layout/list1"/>
    <dgm:cxn modelId="{DC50AE8B-A380-4806-9DBF-D30DD3AE76FC}" type="presParOf" srcId="{0EC78A02-DB13-4A32-BDFF-9D505511D799}" destId="{0231F454-6A5D-46D3-86F4-87ED63A6831F}" srcOrd="2" destOrd="0" presId="urn:microsoft.com/office/officeart/2005/8/layout/list1"/>
    <dgm:cxn modelId="{09BA93FA-409D-4342-A9D9-401F46E03BB6}" type="presParOf" srcId="{0EC78A02-DB13-4A32-BDFF-9D505511D799}" destId="{0E9D7CBA-4EE2-4982-A33D-4996E2F91E5A}" srcOrd="3" destOrd="0" presId="urn:microsoft.com/office/officeart/2005/8/layout/list1"/>
    <dgm:cxn modelId="{E1C9AC97-1A4A-470A-8523-3C0A0C6E0C47}" type="presParOf" srcId="{0EC78A02-DB13-4A32-BDFF-9D505511D799}" destId="{7765FBA4-9772-4DDE-AA04-FD0654C77C9B}" srcOrd="4" destOrd="0" presId="urn:microsoft.com/office/officeart/2005/8/layout/list1"/>
    <dgm:cxn modelId="{B6C035D9-419B-45ED-BCB0-2C9ABE193830}" type="presParOf" srcId="{7765FBA4-9772-4DDE-AA04-FD0654C77C9B}" destId="{6D9E5FF3-1171-467C-9D4C-6304ADCFAAAC}" srcOrd="0" destOrd="0" presId="urn:microsoft.com/office/officeart/2005/8/layout/list1"/>
    <dgm:cxn modelId="{8E7AC0AC-9B62-4C33-A511-1987EAAEBD96}" type="presParOf" srcId="{7765FBA4-9772-4DDE-AA04-FD0654C77C9B}" destId="{417F7706-15BA-444C-8B59-B23114F27EFB}" srcOrd="1" destOrd="0" presId="urn:microsoft.com/office/officeart/2005/8/layout/list1"/>
    <dgm:cxn modelId="{E70C9F97-B5FD-4BC0-A00E-70C9A533977F}" type="presParOf" srcId="{0EC78A02-DB13-4A32-BDFF-9D505511D799}" destId="{E99B5AA9-D495-4BDB-B004-A25CDC924FE3}" srcOrd="5" destOrd="0" presId="urn:microsoft.com/office/officeart/2005/8/layout/list1"/>
    <dgm:cxn modelId="{381424F4-BF94-4F9A-AD02-A14408E7AF37}" type="presParOf" srcId="{0EC78A02-DB13-4A32-BDFF-9D505511D799}" destId="{1A50D50E-78FE-4EDE-BBFB-6C40A8F11943}" srcOrd="6" destOrd="0" presId="urn:microsoft.com/office/officeart/2005/8/layout/list1"/>
    <dgm:cxn modelId="{2A74D5B2-378B-4265-B7E6-A942A9C0D419}" type="presParOf" srcId="{0EC78A02-DB13-4A32-BDFF-9D505511D799}" destId="{A822A474-ABFA-4093-82BE-7787B6C56906}" srcOrd="7" destOrd="0" presId="urn:microsoft.com/office/officeart/2005/8/layout/list1"/>
    <dgm:cxn modelId="{BFA48861-FFD0-40B7-9D1B-BA342E19A2FE}" type="presParOf" srcId="{0EC78A02-DB13-4A32-BDFF-9D505511D799}" destId="{980A19B3-8769-4591-9C07-1FBAEB0D3C41}" srcOrd="8" destOrd="0" presId="urn:microsoft.com/office/officeart/2005/8/layout/list1"/>
    <dgm:cxn modelId="{1FA977FC-2E2A-47E5-B25C-7AE82B703662}" type="presParOf" srcId="{980A19B3-8769-4591-9C07-1FBAEB0D3C41}" destId="{C7912AC5-5A75-41C5-9811-4CBAD542DD09}" srcOrd="0" destOrd="0" presId="urn:microsoft.com/office/officeart/2005/8/layout/list1"/>
    <dgm:cxn modelId="{B9423C92-B748-4372-A291-14CC33A19D67}" type="presParOf" srcId="{980A19B3-8769-4591-9C07-1FBAEB0D3C41}" destId="{4B70CF65-724E-4012-ADB0-95E9988371F9}" srcOrd="1" destOrd="0" presId="urn:microsoft.com/office/officeart/2005/8/layout/list1"/>
    <dgm:cxn modelId="{AC91B7FA-A268-4D63-B112-2E4ECA3BD70A}" type="presParOf" srcId="{0EC78A02-DB13-4A32-BDFF-9D505511D799}" destId="{41F26C5E-F3E3-4959-B53B-C3AF233FB14D}" srcOrd="9" destOrd="0" presId="urn:microsoft.com/office/officeart/2005/8/layout/list1"/>
    <dgm:cxn modelId="{9E901844-182A-4FC6-9AC0-21F211373F95}" type="presParOf" srcId="{0EC78A02-DB13-4A32-BDFF-9D505511D799}" destId="{8A97202C-4C08-4335-B899-6057E89EB386}" srcOrd="10" destOrd="0" presId="urn:microsoft.com/office/officeart/2005/8/layout/list1"/>
    <dgm:cxn modelId="{668BD97D-975B-4BC0-83E5-1F0F4DA0F8FB}" type="presParOf" srcId="{0EC78A02-DB13-4A32-BDFF-9D505511D799}" destId="{32E7E187-BD39-4612-8A52-66C901BC52C0}" srcOrd="11" destOrd="0" presId="urn:microsoft.com/office/officeart/2005/8/layout/list1"/>
    <dgm:cxn modelId="{E27626E5-7E2E-4B5B-AC1C-8C7067152D41}" type="presParOf" srcId="{0EC78A02-DB13-4A32-BDFF-9D505511D799}" destId="{477CA0CB-BAFB-4A8D-9EBC-4002D08DEFF2}" srcOrd="12" destOrd="0" presId="urn:microsoft.com/office/officeart/2005/8/layout/list1"/>
    <dgm:cxn modelId="{8C729D09-2FBA-4270-AE50-66C30656C2E8}" type="presParOf" srcId="{477CA0CB-BAFB-4A8D-9EBC-4002D08DEFF2}" destId="{DE8D7E1F-5692-4FC3-B062-C616F096F4F2}" srcOrd="0" destOrd="0" presId="urn:microsoft.com/office/officeart/2005/8/layout/list1"/>
    <dgm:cxn modelId="{2719C0A7-DA07-4718-BC15-72C5FE48EB6E}" type="presParOf" srcId="{477CA0CB-BAFB-4A8D-9EBC-4002D08DEFF2}" destId="{38183EEB-153E-4233-8DCF-716978AAFA68}" srcOrd="1" destOrd="0" presId="urn:microsoft.com/office/officeart/2005/8/layout/list1"/>
    <dgm:cxn modelId="{9E5125EA-58A4-400F-8F77-C8B7C1ECF70B}" type="presParOf" srcId="{0EC78A02-DB13-4A32-BDFF-9D505511D799}" destId="{719535B8-30B9-476C-8D57-555D622A6068}" srcOrd="13" destOrd="0" presId="urn:microsoft.com/office/officeart/2005/8/layout/list1"/>
    <dgm:cxn modelId="{9D253B42-052C-4B42-BB2B-C0746AFD4BE5}" type="presParOf" srcId="{0EC78A02-DB13-4A32-BDFF-9D505511D799}" destId="{FD5DD3EB-200D-4C5D-BB8B-558A2008FF9C}" srcOrd="14" destOrd="0" presId="urn:microsoft.com/office/officeart/2005/8/layout/list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FFCBA2-EB8D-4CDD-9460-4A57A6E5D355}" type="doc">
      <dgm:prSet loTypeId="urn:microsoft.com/office/officeart/2005/8/layout/matrix2" loCatId="matrix" qsTypeId="urn:microsoft.com/office/officeart/2005/8/quickstyle/simple4#1" qsCatId="simple" csTypeId="urn:microsoft.com/office/officeart/2005/8/colors/accent2_2#1" csCatId="accent2" phldr="1"/>
      <dgm:spPr/>
      <dgm:t>
        <a:bodyPr/>
        <a:lstStyle/>
        <a:p>
          <a:endParaRPr lang="en-US"/>
        </a:p>
      </dgm:t>
    </dgm:pt>
    <dgm:pt modelId="{F1212CD7-9D85-4925-9307-AE5A6F8ABCE7}">
      <dgm:prSet/>
      <dgm:spPr/>
      <dgm:t>
        <a:bodyPr/>
        <a:lstStyle/>
        <a:p>
          <a:r>
            <a:rPr lang="en-US"/>
            <a:t>Sole Proprietorships</a:t>
          </a:r>
        </a:p>
      </dgm:t>
    </dgm:pt>
    <dgm:pt modelId="{72288954-77AB-4080-BD6C-678291D6EC4E}" type="parTrans" cxnId="{A3FF043A-677C-4926-93FC-3FED96A133A3}">
      <dgm:prSet/>
      <dgm:spPr/>
      <dgm:t>
        <a:bodyPr/>
        <a:lstStyle/>
        <a:p>
          <a:endParaRPr lang="en-US"/>
        </a:p>
      </dgm:t>
    </dgm:pt>
    <dgm:pt modelId="{9C80CF4C-1426-4571-A14F-D69F322B44FA}" type="sibTrans" cxnId="{A3FF043A-677C-4926-93FC-3FED96A133A3}">
      <dgm:prSet/>
      <dgm:spPr/>
      <dgm:t>
        <a:bodyPr/>
        <a:lstStyle/>
        <a:p>
          <a:endParaRPr lang="en-US"/>
        </a:p>
      </dgm:t>
    </dgm:pt>
    <dgm:pt modelId="{75B92882-E479-4091-B4A8-E455749C5308}">
      <dgm:prSet/>
      <dgm:spPr/>
      <dgm:t>
        <a:bodyPr/>
        <a:lstStyle/>
        <a:p>
          <a:r>
            <a:rPr lang="en-US"/>
            <a:t>Partnerships</a:t>
          </a:r>
        </a:p>
      </dgm:t>
    </dgm:pt>
    <dgm:pt modelId="{70F6C93A-1342-4D60-979F-8461E04E28DD}" type="parTrans" cxnId="{5CE642B8-C907-4E62-8A4D-BD9D537CFFBB}">
      <dgm:prSet/>
      <dgm:spPr/>
      <dgm:t>
        <a:bodyPr/>
        <a:lstStyle/>
        <a:p>
          <a:endParaRPr lang="en-US"/>
        </a:p>
      </dgm:t>
    </dgm:pt>
    <dgm:pt modelId="{B8523CFC-631C-4961-8C76-9D81D5FFC835}" type="sibTrans" cxnId="{5CE642B8-C907-4E62-8A4D-BD9D537CFFBB}">
      <dgm:prSet/>
      <dgm:spPr/>
      <dgm:t>
        <a:bodyPr/>
        <a:lstStyle/>
        <a:p>
          <a:endParaRPr lang="en-US"/>
        </a:p>
      </dgm:t>
    </dgm:pt>
    <dgm:pt modelId="{2921CF73-B9D3-477A-A465-540A8CBB6107}">
      <dgm:prSet/>
      <dgm:spPr/>
      <dgm:t>
        <a:bodyPr/>
        <a:lstStyle/>
        <a:p>
          <a:r>
            <a:rPr lang="en-US"/>
            <a:t>Corporations</a:t>
          </a:r>
        </a:p>
      </dgm:t>
    </dgm:pt>
    <dgm:pt modelId="{E6EE8C3E-EC1B-4E68-AA9A-109DF2B28525}" type="parTrans" cxnId="{28CF58AD-94A5-46E1-A950-8B1C1929C5C4}">
      <dgm:prSet/>
      <dgm:spPr/>
      <dgm:t>
        <a:bodyPr/>
        <a:lstStyle/>
        <a:p>
          <a:endParaRPr lang="en-US"/>
        </a:p>
      </dgm:t>
    </dgm:pt>
    <dgm:pt modelId="{82D2AD6B-F7A3-4711-B69A-E41C88998112}" type="sibTrans" cxnId="{28CF58AD-94A5-46E1-A950-8B1C1929C5C4}">
      <dgm:prSet/>
      <dgm:spPr/>
      <dgm:t>
        <a:bodyPr/>
        <a:lstStyle/>
        <a:p>
          <a:endParaRPr lang="en-US"/>
        </a:p>
      </dgm:t>
    </dgm:pt>
    <dgm:pt modelId="{D12C6D60-7A1C-4C95-BF1B-93C34E232445}">
      <dgm:prSet/>
      <dgm:spPr/>
      <dgm:t>
        <a:bodyPr/>
        <a:lstStyle/>
        <a:p>
          <a:r>
            <a:rPr lang="en-US"/>
            <a:t>Not-for-Profit Corporations</a:t>
          </a:r>
        </a:p>
      </dgm:t>
    </dgm:pt>
    <dgm:pt modelId="{ADE04338-9389-4BC0-AC77-04E374D0060A}" type="parTrans" cxnId="{F40395AE-7B22-4CC2-895A-1FB1F9A2B477}">
      <dgm:prSet/>
      <dgm:spPr/>
      <dgm:t>
        <a:bodyPr/>
        <a:lstStyle/>
        <a:p>
          <a:endParaRPr lang="en-US"/>
        </a:p>
      </dgm:t>
    </dgm:pt>
    <dgm:pt modelId="{7A334C2A-2652-4F04-B715-B7F2F14ABE98}" type="sibTrans" cxnId="{F40395AE-7B22-4CC2-895A-1FB1F9A2B477}">
      <dgm:prSet/>
      <dgm:spPr/>
      <dgm:t>
        <a:bodyPr/>
        <a:lstStyle/>
        <a:p>
          <a:endParaRPr lang="en-US"/>
        </a:p>
      </dgm:t>
    </dgm:pt>
    <dgm:pt modelId="{0D780810-892F-4B2C-9318-2CE3721AC768}" type="pres">
      <dgm:prSet presAssocID="{E6FFCBA2-EB8D-4CDD-9460-4A57A6E5D355}" presName="matrix" presStyleCnt="0">
        <dgm:presLayoutVars>
          <dgm:chMax val="1"/>
          <dgm:dir/>
          <dgm:resizeHandles val="exact"/>
        </dgm:presLayoutVars>
      </dgm:prSet>
      <dgm:spPr/>
    </dgm:pt>
    <dgm:pt modelId="{53C03333-F5EA-4966-810F-2F47BDCE65CC}" type="pres">
      <dgm:prSet presAssocID="{E6FFCBA2-EB8D-4CDD-9460-4A57A6E5D355}" presName="axisShape" presStyleLbl="bgShp" presStyleIdx="0" presStyleCnt="1"/>
      <dgm:spPr/>
    </dgm:pt>
    <dgm:pt modelId="{4FE4DF17-5A16-4899-B924-655954349C8E}" type="pres">
      <dgm:prSet presAssocID="{E6FFCBA2-EB8D-4CDD-9460-4A57A6E5D355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A7DE765-63F1-43C5-8797-4540923D5C3B}" type="pres">
      <dgm:prSet presAssocID="{E6FFCBA2-EB8D-4CDD-9460-4A57A6E5D355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CE3E32E-5C87-4908-8B1E-6C1D7D1A6A36}" type="pres">
      <dgm:prSet presAssocID="{E6FFCBA2-EB8D-4CDD-9460-4A57A6E5D355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586F8EE-C7DF-442B-B568-DD4692F5D37E}" type="pres">
      <dgm:prSet presAssocID="{E6FFCBA2-EB8D-4CDD-9460-4A57A6E5D355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9EF1808-A4B3-4425-9819-F180D556B801}" type="presOf" srcId="{75B92882-E479-4091-B4A8-E455749C5308}" destId="{CA7DE765-63F1-43C5-8797-4540923D5C3B}" srcOrd="0" destOrd="0" presId="urn:microsoft.com/office/officeart/2005/8/layout/matrix2"/>
    <dgm:cxn modelId="{4E31DD0C-F18A-4C1D-8CE5-DCC6B5F125AA}" type="presOf" srcId="{D12C6D60-7A1C-4C95-BF1B-93C34E232445}" destId="{6586F8EE-C7DF-442B-B568-DD4692F5D37E}" srcOrd="0" destOrd="0" presId="urn:microsoft.com/office/officeart/2005/8/layout/matrix2"/>
    <dgm:cxn modelId="{A3FF043A-677C-4926-93FC-3FED96A133A3}" srcId="{E6FFCBA2-EB8D-4CDD-9460-4A57A6E5D355}" destId="{F1212CD7-9D85-4925-9307-AE5A6F8ABCE7}" srcOrd="0" destOrd="0" parTransId="{72288954-77AB-4080-BD6C-678291D6EC4E}" sibTransId="{9C80CF4C-1426-4571-A14F-D69F322B44FA}"/>
    <dgm:cxn modelId="{28CF58AD-94A5-46E1-A950-8B1C1929C5C4}" srcId="{E6FFCBA2-EB8D-4CDD-9460-4A57A6E5D355}" destId="{2921CF73-B9D3-477A-A465-540A8CBB6107}" srcOrd="2" destOrd="0" parTransId="{E6EE8C3E-EC1B-4E68-AA9A-109DF2B28525}" sibTransId="{82D2AD6B-F7A3-4711-B69A-E41C88998112}"/>
    <dgm:cxn modelId="{F40395AE-7B22-4CC2-895A-1FB1F9A2B477}" srcId="{E6FFCBA2-EB8D-4CDD-9460-4A57A6E5D355}" destId="{D12C6D60-7A1C-4C95-BF1B-93C34E232445}" srcOrd="3" destOrd="0" parTransId="{ADE04338-9389-4BC0-AC77-04E374D0060A}" sibTransId="{7A334C2A-2652-4F04-B715-B7F2F14ABE98}"/>
    <dgm:cxn modelId="{5CE642B8-C907-4E62-8A4D-BD9D537CFFBB}" srcId="{E6FFCBA2-EB8D-4CDD-9460-4A57A6E5D355}" destId="{75B92882-E479-4091-B4A8-E455749C5308}" srcOrd="1" destOrd="0" parTransId="{70F6C93A-1342-4D60-979F-8461E04E28DD}" sibTransId="{B8523CFC-631C-4961-8C76-9D81D5FFC835}"/>
    <dgm:cxn modelId="{7556C5BF-AFE1-42D4-A68F-2002DDB5C394}" type="presOf" srcId="{E6FFCBA2-EB8D-4CDD-9460-4A57A6E5D355}" destId="{0D780810-892F-4B2C-9318-2CE3721AC768}" srcOrd="0" destOrd="0" presId="urn:microsoft.com/office/officeart/2005/8/layout/matrix2"/>
    <dgm:cxn modelId="{F06F26CE-FDF7-407E-B459-FD80F91DC9C4}" type="presOf" srcId="{F1212CD7-9D85-4925-9307-AE5A6F8ABCE7}" destId="{4FE4DF17-5A16-4899-B924-655954349C8E}" srcOrd="0" destOrd="0" presId="urn:microsoft.com/office/officeart/2005/8/layout/matrix2"/>
    <dgm:cxn modelId="{270DEFF3-FF44-444B-988A-821A3AD8FB62}" type="presOf" srcId="{2921CF73-B9D3-477A-A465-540A8CBB6107}" destId="{3CE3E32E-5C87-4908-8B1E-6C1D7D1A6A36}" srcOrd="0" destOrd="0" presId="urn:microsoft.com/office/officeart/2005/8/layout/matrix2"/>
    <dgm:cxn modelId="{2FBF09C0-DB36-46C3-B258-8B114B1E414A}" type="presParOf" srcId="{0D780810-892F-4B2C-9318-2CE3721AC768}" destId="{53C03333-F5EA-4966-810F-2F47BDCE65CC}" srcOrd="0" destOrd="0" presId="urn:microsoft.com/office/officeart/2005/8/layout/matrix2"/>
    <dgm:cxn modelId="{27020584-EC39-49A6-9601-0085231C0D26}" type="presParOf" srcId="{0D780810-892F-4B2C-9318-2CE3721AC768}" destId="{4FE4DF17-5A16-4899-B924-655954349C8E}" srcOrd="1" destOrd="0" presId="urn:microsoft.com/office/officeart/2005/8/layout/matrix2"/>
    <dgm:cxn modelId="{3445A471-DFC3-4C38-BC4C-AF760597883B}" type="presParOf" srcId="{0D780810-892F-4B2C-9318-2CE3721AC768}" destId="{CA7DE765-63F1-43C5-8797-4540923D5C3B}" srcOrd="2" destOrd="0" presId="urn:microsoft.com/office/officeart/2005/8/layout/matrix2"/>
    <dgm:cxn modelId="{47762484-79E5-48D5-8539-AAD154BEDE4D}" type="presParOf" srcId="{0D780810-892F-4B2C-9318-2CE3721AC768}" destId="{3CE3E32E-5C87-4908-8B1E-6C1D7D1A6A36}" srcOrd="3" destOrd="0" presId="urn:microsoft.com/office/officeart/2005/8/layout/matrix2"/>
    <dgm:cxn modelId="{A28DF35F-B674-49FD-A34A-3C4CBA914B0C}" type="presParOf" srcId="{0D780810-892F-4B2C-9318-2CE3721AC768}" destId="{6586F8EE-C7DF-442B-B568-DD4692F5D37E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540B10F-047F-4ED1-8014-ECEF1BF22BB2}" type="doc">
      <dgm:prSet loTypeId="urn:microsoft.com/office/officeart/2018/2/layout/IconVerticalSolidList" loCatId="icon" qsTypeId="urn:microsoft.com/office/officeart/2005/8/quickstyle/simple1#4" qsCatId="simple" csTypeId="urn:microsoft.com/office/officeart/2005/8/colors/accent2_2#2" csCatId="accent2" phldr="1"/>
      <dgm:spPr/>
      <dgm:t>
        <a:bodyPr/>
        <a:lstStyle/>
        <a:p>
          <a:endParaRPr lang="en-US"/>
        </a:p>
      </dgm:t>
    </dgm:pt>
    <dgm:pt modelId="{41277CCF-F312-47F1-995D-4F28F28EA3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Franchising agreements exist between franchisee and franchisor</a:t>
          </a:r>
        </a:p>
      </dgm:t>
    </dgm:pt>
    <dgm:pt modelId="{EDE81F46-F37D-4581-9912-62BE206A32E1}" type="parTrans" cxnId="{51FDBC58-503B-429D-889C-D66F1F65AF97}">
      <dgm:prSet/>
      <dgm:spPr/>
      <dgm:t>
        <a:bodyPr/>
        <a:lstStyle/>
        <a:p>
          <a:endParaRPr lang="en-US"/>
        </a:p>
      </dgm:t>
    </dgm:pt>
    <dgm:pt modelId="{2FE85D81-B717-45B0-A2D7-885CD2A8EA74}" type="sibTrans" cxnId="{51FDBC58-503B-429D-889C-D66F1F65AF97}">
      <dgm:prSet/>
      <dgm:spPr/>
      <dgm:t>
        <a:bodyPr/>
        <a:lstStyle/>
        <a:p>
          <a:endParaRPr lang="en-US"/>
        </a:p>
      </dgm:t>
    </dgm:pt>
    <dgm:pt modelId="{7E577256-E6EA-4245-A3BA-BA10045B96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Canada has 76,000 individual franchise businesses operating under 900 different brand names</a:t>
          </a:r>
        </a:p>
      </dgm:t>
    </dgm:pt>
    <dgm:pt modelId="{19E5FE45-762D-46E0-BC68-DD286ED3FC75}" type="parTrans" cxnId="{5804674F-F88C-4A4D-8BA7-A48D4F9A3081}">
      <dgm:prSet/>
      <dgm:spPr/>
      <dgm:t>
        <a:bodyPr/>
        <a:lstStyle/>
        <a:p>
          <a:endParaRPr lang="en-US"/>
        </a:p>
      </dgm:t>
    </dgm:pt>
    <dgm:pt modelId="{91113F48-E40C-4867-AB5D-4FA3EC3DC0F8}" type="sibTrans" cxnId="{5804674F-F88C-4A4D-8BA7-A48D4F9A3081}">
      <dgm:prSet/>
      <dgm:spPr/>
      <dgm:t>
        <a:bodyPr/>
        <a:lstStyle/>
        <a:p>
          <a:endParaRPr lang="en-US"/>
        </a:p>
      </dgm:t>
    </dgm:pt>
    <dgm:pt modelId="{E9E9EC86-D399-4080-9CB4-B8D09085F7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These franchises employ more than one million Canadians</a:t>
          </a:r>
        </a:p>
      </dgm:t>
    </dgm:pt>
    <dgm:pt modelId="{18BABDAD-7B6C-40B4-B28C-DCBB6BAD847A}" type="parTrans" cxnId="{A6059CF4-6A3F-41CE-B0F1-A25D1F36CD84}">
      <dgm:prSet/>
      <dgm:spPr/>
      <dgm:t>
        <a:bodyPr/>
        <a:lstStyle/>
        <a:p>
          <a:endParaRPr lang="en-US"/>
        </a:p>
      </dgm:t>
    </dgm:pt>
    <dgm:pt modelId="{FB6C0795-2B03-4359-875D-C68279BFA3E5}" type="sibTrans" cxnId="{A6059CF4-6A3F-41CE-B0F1-A25D1F36CD84}">
      <dgm:prSet/>
      <dgm:spPr/>
      <dgm:t>
        <a:bodyPr/>
        <a:lstStyle/>
        <a:p>
          <a:endParaRPr lang="en-US"/>
        </a:p>
      </dgm:t>
    </dgm:pt>
    <dgm:pt modelId="{F3CC93B8-ADA5-4296-8C67-731364341A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More than $100 billion in sales each year</a:t>
          </a:r>
        </a:p>
      </dgm:t>
    </dgm:pt>
    <dgm:pt modelId="{C7FAC6DE-01C1-4572-88FC-BCECB555A384}" type="parTrans" cxnId="{67CAB433-4B15-4D73-A805-5CA8FC8F0D00}">
      <dgm:prSet/>
      <dgm:spPr/>
      <dgm:t>
        <a:bodyPr/>
        <a:lstStyle/>
        <a:p>
          <a:endParaRPr lang="en-US"/>
        </a:p>
      </dgm:t>
    </dgm:pt>
    <dgm:pt modelId="{38A56194-0C8E-41E1-98BB-255F3BDCC666}" type="sibTrans" cxnId="{67CAB433-4B15-4D73-A805-5CA8FC8F0D00}">
      <dgm:prSet/>
      <dgm:spPr/>
      <dgm:t>
        <a:bodyPr/>
        <a:lstStyle/>
        <a:p>
          <a:endParaRPr lang="en-US"/>
        </a:p>
      </dgm:t>
    </dgm:pt>
    <dgm:pt modelId="{90633069-E53E-4A80-AD6A-729B08DCD0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Franchising overseas is a growing</a:t>
          </a:r>
        </a:p>
      </dgm:t>
    </dgm:pt>
    <dgm:pt modelId="{46176F56-5D16-41E8-8303-3535CF3A09EE}" type="parTrans" cxnId="{E92F4C86-FC84-4271-9046-BDFB7DA9C881}">
      <dgm:prSet/>
      <dgm:spPr/>
      <dgm:t>
        <a:bodyPr/>
        <a:lstStyle/>
        <a:p>
          <a:endParaRPr lang="en-US"/>
        </a:p>
      </dgm:t>
    </dgm:pt>
    <dgm:pt modelId="{8F3B89BF-A324-4ECB-A7CB-0AB4E1A8E4EE}" type="sibTrans" cxnId="{E92F4C86-FC84-4271-9046-BDFB7DA9C881}">
      <dgm:prSet/>
      <dgm:spPr/>
      <dgm:t>
        <a:bodyPr/>
        <a:lstStyle/>
        <a:p>
          <a:endParaRPr lang="en-US"/>
        </a:p>
      </dgm:t>
    </dgm:pt>
    <dgm:pt modelId="{0CB949B0-C314-4388-B338-A91FAA7BCFF9}" type="pres">
      <dgm:prSet presAssocID="{7540B10F-047F-4ED1-8014-ECEF1BF22BB2}" presName="root" presStyleCnt="0">
        <dgm:presLayoutVars>
          <dgm:dir/>
          <dgm:resizeHandles val="exact"/>
        </dgm:presLayoutVars>
      </dgm:prSet>
      <dgm:spPr/>
    </dgm:pt>
    <dgm:pt modelId="{BAC4E54C-B12D-40C5-9EF2-21A92FB5D181}" type="pres">
      <dgm:prSet presAssocID="{41277CCF-F312-47F1-995D-4F28F28EA316}" presName="compNode" presStyleCnt="0"/>
      <dgm:spPr/>
    </dgm:pt>
    <dgm:pt modelId="{EC4A5393-4468-4DC7-BE59-423743912D2E}" type="pres">
      <dgm:prSet presAssocID="{41277CCF-F312-47F1-995D-4F28F28EA316}" presName="bgRect" presStyleLbl="bgShp" presStyleIdx="0" presStyleCnt="5"/>
      <dgm:spPr/>
    </dgm:pt>
    <dgm:pt modelId="{B28CDC58-CDAC-4913-ACE8-6D9676EA9A70}" type="pres">
      <dgm:prSet presAssocID="{41277CCF-F312-47F1-995D-4F28F28EA316}" presName="iconRect" presStyleLbl="node1" presStyleIdx="0" presStyleCnt="5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DE39C34C-11B0-4E6E-AA1F-6294F5632D30}" type="pres">
      <dgm:prSet presAssocID="{41277CCF-F312-47F1-995D-4F28F28EA316}" presName="spaceRect" presStyleCnt="0"/>
      <dgm:spPr/>
    </dgm:pt>
    <dgm:pt modelId="{19023DB8-091A-4BF8-9DD0-F37F051D5BFA}" type="pres">
      <dgm:prSet presAssocID="{41277CCF-F312-47F1-995D-4F28F28EA316}" presName="parTx" presStyleLbl="revTx" presStyleIdx="0" presStyleCnt="5">
        <dgm:presLayoutVars>
          <dgm:chMax val="0"/>
          <dgm:chPref val="0"/>
        </dgm:presLayoutVars>
      </dgm:prSet>
      <dgm:spPr/>
    </dgm:pt>
    <dgm:pt modelId="{D1D4FEF3-C0D8-4971-8D8A-1097B43B4216}" type="pres">
      <dgm:prSet presAssocID="{2FE85D81-B717-45B0-A2D7-885CD2A8EA74}" presName="sibTrans" presStyleCnt="0"/>
      <dgm:spPr/>
    </dgm:pt>
    <dgm:pt modelId="{1ADF9987-46FA-41D2-A107-7DDEE4BCCFFB}" type="pres">
      <dgm:prSet presAssocID="{7E577256-E6EA-4245-A3BA-BA10045B964B}" presName="compNode" presStyleCnt="0"/>
      <dgm:spPr/>
    </dgm:pt>
    <dgm:pt modelId="{88DD7A30-5340-4BC1-AABF-7187CF71AB5C}" type="pres">
      <dgm:prSet presAssocID="{7E577256-E6EA-4245-A3BA-BA10045B964B}" presName="bgRect" presStyleLbl="bgShp" presStyleIdx="1" presStyleCnt="5"/>
      <dgm:spPr/>
    </dgm:pt>
    <dgm:pt modelId="{A896517F-B115-41BE-9C4C-068B6EF792BB}" type="pres">
      <dgm:prSet presAssocID="{7E577256-E6EA-4245-A3BA-BA10045B964B}" presName="iconRect" presStyleLbl="node1" presStyleIdx="1" presStyleCnt="5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3D44C51C-FD77-4A8E-9033-EB2F740071BA}" type="pres">
      <dgm:prSet presAssocID="{7E577256-E6EA-4245-A3BA-BA10045B964B}" presName="spaceRect" presStyleCnt="0"/>
      <dgm:spPr/>
    </dgm:pt>
    <dgm:pt modelId="{AD14E01C-A971-4829-B7B6-541E41FC5C94}" type="pres">
      <dgm:prSet presAssocID="{7E577256-E6EA-4245-A3BA-BA10045B964B}" presName="parTx" presStyleLbl="revTx" presStyleIdx="1" presStyleCnt="5">
        <dgm:presLayoutVars>
          <dgm:chMax val="0"/>
          <dgm:chPref val="0"/>
        </dgm:presLayoutVars>
      </dgm:prSet>
      <dgm:spPr/>
    </dgm:pt>
    <dgm:pt modelId="{6911D330-3D33-4354-B0A6-A44A32CBF010}" type="pres">
      <dgm:prSet presAssocID="{91113F48-E40C-4867-AB5D-4FA3EC3DC0F8}" presName="sibTrans" presStyleCnt="0"/>
      <dgm:spPr/>
    </dgm:pt>
    <dgm:pt modelId="{B863EC83-5263-416C-BFAC-FC4557C9A0D6}" type="pres">
      <dgm:prSet presAssocID="{E9E9EC86-D399-4080-9CB4-B8D09085F77C}" presName="compNode" presStyleCnt="0"/>
      <dgm:spPr/>
    </dgm:pt>
    <dgm:pt modelId="{E44828CD-BD4D-4026-9FE0-A75ED022575B}" type="pres">
      <dgm:prSet presAssocID="{E9E9EC86-D399-4080-9CB4-B8D09085F77C}" presName="bgRect" presStyleLbl="bgShp" presStyleIdx="2" presStyleCnt="5"/>
      <dgm:spPr/>
    </dgm:pt>
    <dgm:pt modelId="{66B8E6B0-BD07-4432-B08A-407893DD4F04}" type="pres">
      <dgm:prSet presAssocID="{E9E9EC86-D399-4080-9CB4-B8D09085F77C}" presName="iconRect" presStyleLbl="node1" presStyleIdx="2" presStyleCnt="5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4E9573B4-1A55-452A-96B7-DC3DB02C8B40}" type="pres">
      <dgm:prSet presAssocID="{E9E9EC86-D399-4080-9CB4-B8D09085F77C}" presName="spaceRect" presStyleCnt="0"/>
      <dgm:spPr/>
    </dgm:pt>
    <dgm:pt modelId="{F808599A-4E9A-48FD-B584-F670DC72D4BF}" type="pres">
      <dgm:prSet presAssocID="{E9E9EC86-D399-4080-9CB4-B8D09085F77C}" presName="parTx" presStyleLbl="revTx" presStyleIdx="2" presStyleCnt="5">
        <dgm:presLayoutVars>
          <dgm:chMax val="0"/>
          <dgm:chPref val="0"/>
        </dgm:presLayoutVars>
      </dgm:prSet>
      <dgm:spPr/>
    </dgm:pt>
    <dgm:pt modelId="{C2B5CD39-BCC8-4066-B983-BB75807FD932}" type="pres">
      <dgm:prSet presAssocID="{FB6C0795-2B03-4359-875D-C68279BFA3E5}" presName="sibTrans" presStyleCnt="0"/>
      <dgm:spPr/>
    </dgm:pt>
    <dgm:pt modelId="{FC97ED25-4A96-477F-A9F6-151D6EF2B300}" type="pres">
      <dgm:prSet presAssocID="{F3CC93B8-ADA5-4296-8C67-731364341A9F}" presName="compNode" presStyleCnt="0"/>
      <dgm:spPr/>
    </dgm:pt>
    <dgm:pt modelId="{9546D490-13C5-4641-86E1-78C35EA232AF}" type="pres">
      <dgm:prSet presAssocID="{F3CC93B8-ADA5-4296-8C67-731364341A9F}" presName="bgRect" presStyleLbl="bgShp" presStyleIdx="3" presStyleCnt="5"/>
      <dgm:spPr/>
    </dgm:pt>
    <dgm:pt modelId="{9C7000B7-4949-4F19-B3F1-43597396C2BD}" type="pres">
      <dgm:prSet presAssocID="{F3CC93B8-ADA5-4296-8C67-731364341A9F}" presName="iconRect" presStyleLbl="node1" presStyleIdx="3" presStyleCnt="5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D1901D9-B637-4CD7-9938-D223B57CD1ED}" type="pres">
      <dgm:prSet presAssocID="{F3CC93B8-ADA5-4296-8C67-731364341A9F}" presName="spaceRect" presStyleCnt="0"/>
      <dgm:spPr/>
    </dgm:pt>
    <dgm:pt modelId="{FD6EC6EB-608B-4D68-A784-D9E1DCA2E16B}" type="pres">
      <dgm:prSet presAssocID="{F3CC93B8-ADA5-4296-8C67-731364341A9F}" presName="parTx" presStyleLbl="revTx" presStyleIdx="3" presStyleCnt="5">
        <dgm:presLayoutVars>
          <dgm:chMax val="0"/>
          <dgm:chPref val="0"/>
        </dgm:presLayoutVars>
      </dgm:prSet>
      <dgm:spPr/>
    </dgm:pt>
    <dgm:pt modelId="{899862F0-2C2D-4D77-AEDA-28BEF1892F17}" type="pres">
      <dgm:prSet presAssocID="{38A56194-0C8E-41E1-98BB-255F3BDCC666}" presName="sibTrans" presStyleCnt="0"/>
      <dgm:spPr/>
    </dgm:pt>
    <dgm:pt modelId="{85767341-B8B8-4E2E-BD1A-D623F506794B}" type="pres">
      <dgm:prSet presAssocID="{90633069-E53E-4A80-AD6A-729B08DCD023}" presName="compNode" presStyleCnt="0"/>
      <dgm:spPr/>
    </dgm:pt>
    <dgm:pt modelId="{F4887797-F4EB-4938-8F9A-86068DBBF3B2}" type="pres">
      <dgm:prSet presAssocID="{90633069-E53E-4A80-AD6A-729B08DCD023}" presName="bgRect" presStyleLbl="bgShp" presStyleIdx="4" presStyleCnt="5"/>
      <dgm:spPr/>
    </dgm:pt>
    <dgm:pt modelId="{08D81370-FE77-401A-B237-C8C2499244E8}" type="pres">
      <dgm:prSet presAssocID="{90633069-E53E-4A80-AD6A-729B08DCD023}" presName="iconRect" presStyleLbl="node1" presStyleIdx="4" presStyleCnt="5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D96521CE-F2A9-4A3F-B01C-5EA79082BF7D}" type="pres">
      <dgm:prSet presAssocID="{90633069-E53E-4A80-AD6A-729B08DCD023}" presName="spaceRect" presStyleCnt="0"/>
      <dgm:spPr/>
    </dgm:pt>
    <dgm:pt modelId="{ED7DE74E-76B0-4526-A4E3-24B6C64BAFC8}" type="pres">
      <dgm:prSet presAssocID="{90633069-E53E-4A80-AD6A-729B08DCD02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7CAB433-4B15-4D73-A805-5CA8FC8F0D00}" srcId="{7540B10F-047F-4ED1-8014-ECEF1BF22BB2}" destId="{F3CC93B8-ADA5-4296-8C67-731364341A9F}" srcOrd="3" destOrd="0" parTransId="{C7FAC6DE-01C1-4572-88FC-BCECB555A384}" sibTransId="{38A56194-0C8E-41E1-98BB-255F3BDCC666}"/>
    <dgm:cxn modelId="{F2BD463E-56DE-4DD6-ABA8-D9B208D476D8}" type="presOf" srcId="{90633069-E53E-4A80-AD6A-729B08DCD023}" destId="{ED7DE74E-76B0-4526-A4E3-24B6C64BAFC8}" srcOrd="0" destOrd="0" presId="urn:microsoft.com/office/officeart/2018/2/layout/IconVerticalSolidList"/>
    <dgm:cxn modelId="{BBFCEB5E-391B-4C5A-9488-DE110317312D}" type="presOf" srcId="{7E577256-E6EA-4245-A3BA-BA10045B964B}" destId="{AD14E01C-A971-4829-B7B6-541E41FC5C94}" srcOrd="0" destOrd="0" presId="urn:microsoft.com/office/officeart/2018/2/layout/IconVerticalSolidList"/>
    <dgm:cxn modelId="{5804674F-F88C-4A4D-8BA7-A48D4F9A3081}" srcId="{7540B10F-047F-4ED1-8014-ECEF1BF22BB2}" destId="{7E577256-E6EA-4245-A3BA-BA10045B964B}" srcOrd="1" destOrd="0" parTransId="{19E5FE45-762D-46E0-BC68-DD286ED3FC75}" sibTransId="{91113F48-E40C-4867-AB5D-4FA3EC3DC0F8}"/>
    <dgm:cxn modelId="{A9F56C75-CA37-44E1-84A4-F131DB5DE183}" type="presOf" srcId="{F3CC93B8-ADA5-4296-8C67-731364341A9F}" destId="{FD6EC6EB-608B-4D68-A784-D9E1DCA2E16B}" srcOrd="0" destOrd="0" presId="urn:microsoft.com/office/officeart/2018/2/layout/IconVerticalSolidList"/>
    <dgm:cxn modelId="{51FDBC58-503B-429D-889C-D66F1F65AF97}" srcId="{7540B10F-047F-4ED1-8014-ECEF1BF22BB2}" destId="{41277CCF-F312-47F1-995D-4F28F28EA316}" srcOrd="0" destOrd="0" parTransId="{EDE81F46-F37D-4581-9912-62BE206A32E1}" sibTransId="{2FE85D81-B717-45B0-A2D7-885CD2A8EA74}"/>
    <dgm:cxn modelId="{E92F4C86-FC84-4271-9046-BDFB7DA9C881}" srcId="{7540B10F-047F-4ED1-8014-ECEF1BF22BB2}" destId="{90633069-E53E-4A80-AD6A-729B08DCD023}" srcOrd="4" destOrd="0" parTransId="{46176F56-5D16-41E8-8303-3535CF3A09EE}" sibTransId="{8F3B89BF-A324-4ECB-A7CB-0AB4E1A8E4EE}"/>
    <dgm:cxn modelId="{3989CF8F-C9B8-41BC-A7E7-AFE167108753}" type="presOf" srcId="{7540B10F-047F-4ED1-8014-ECEF1BF22BB2}" destId="{0CB949B0-C314-4388-B338-A91FAA7BCFF9}" srcOrd="0" destOrd="0" presId="urn:microsoft.com/office/officeart/2018/2/layout/IconVerticalSolidList"/>
    <dgm:cxn modelId="{6CC233E7-017B-4370-AC23-97343B0D7FDB}" type="presOf" srcId="{E9E9EC86-D399-4080-9CB4-B8D09085F77C}" destId="{F808599A-4E9A-48FD-B584-F670DC72D4BF}" srcOrd="0" destOrd="0" presId="urn:microsoft.com/office/officeart/2018/2/layout/IconVerticalSolidList"/>
    <dgm:cxn modelId="{DFE9BBE9-E8BC-429B-9FCD-2CC7804F6CB0}" type="presOf" srcId="{41277CCF-F312-47F1-995D-4F28F28EA316}" destId="{19023DB8-091A-4BF8-9DD0-F37F051D5BFA}" srcOrd="0" destOrd="0" presId="urn:microsoft.com/office/officeart/2018/2/layout/IconVerticalSolidList"/>
    <dgm:cxn modelId="{A6059CF4-6A3F-41CE-B0F1-A25D1F36CD84}" srcId="{7540B10F-047F-4ED1-8014-ECEF1BF22BB2}" destId="{E9E9EC86-D399-4080-9CB4-B8D09085F77C}" srcOrd="2" destOrd="0" parTransId="{18BABDAD-7B6C-40B4-B28C-DCBB6BAD847A}" sibTransId="{FB6C0795-2B03-4359-875D-C68279BFA3E5}"/>
    <dgm:cxn modelId="{BBB7D039-5AA8-46AD-9300-7188BD371D62}" type="presParOf" srcId="{0CB949B0-C314-4388-B338-A91FAA7BCFF9}" destId="{BAC4E54C-B12D-40C5-9EF2-21A92FB5D181}" srcOrd="0" destOrd="0" presId="urn:microsoft.com/office/officeart/2018/2/layout/IconVerticalSolidList"/>
    <dgm:cxn modelId="{38CAD577-FFA4-41CE-82B2-08A3F2711066}" type="presParOf" srcId="{BAC4E54C-B12D-40C5-9EF2-21A92FB5D181}" destId="{EC4A5393-4468-4DC7-BE59-423743912D2E}" srcOrd="0" destOrd="0" presId="urn:microsoft.com/office/officeart/2018/2/layout/IconVerticalSolidList"/>
    <dgm:cxn modelId="{48D8FB66-F96D-4FED-9BE1-FF9E26E4BF4C}" type="presParOf" srcId="{BAC4E54C-B12D-40C5-9EF2-21A92FB5D181}" destId="{B28CDC58-CDAC-4913-ACE8-6D9676EA9A70}" srcOrd="1" destOrd="0" presId="urn:microsoft.com/office/officeart/2018/2/layout/IconVerticalSolidList"/>
    <dgm:cxn modelId="{8685201D-FA2A-4213-8505-5140F1D3537D}" type="presParOf" srcId="{BAC4E54C-B12D-40C5-9EF2-21A92FB5D181}" destId="{DE39C34C-11B0-4E6E-AA1F-6294F5632D30}" srcOrd="2" destOrd="0" presId="urn:microsoft.com/office/officeart/2018/2/layout/IconVerticalSolidList"/>
    <dgm:cxn modelId="{EB9FF639-583D-424F-9B86-2D20458F5FFD}" type="presParOf" srcId="{BAC4E54C-B12D-40C5-9EF2-21A92FB5D181}" destId="{19023DB8-091A-4BF8-9DD0-F37F051D5BFA}" srcOrd="3" destOrd="0" presId="urn:microsoft.com/office/officeart/2018/2/layout/IconVerticalSolidList"/>
    <dgm:cxn modelId="{9909AC49-F2D5-4110-B8C4-725EA7474C5F}" type="presParOf" srcId="{0CB949B0-C314-4388-B338-A91FAA7BCFF9}" destId="{D1D4FEF3-C0D8-4971-8D8A-1097B43B4216}" srcOrd="1" destOrd="0" presId="urn:microsoft.com/office/officeart/2018/2/layout/IconVerticalSolidList"/>
    <dgm:cxn modelId="{CDB0CE67-8120-4B4F-812F-048845512839}" type="presParOf" srcId="{0CB949B0-C314-4388-B338-A91FAA7BCFF9}" destId="{1ADF9987-46FA-41D2-A107-7DDEE4BCCFFB}" srcOrd="2" destOrd="0" presId="urn:microsoft.com/office/officeart/2018/2/layout/IconVerticalSolidList"/>
    <dgm:cxn modelId="{5A5054D8-9570-4986-AB44-0C26E0996743}" type="presParOf" srcId="{1ADF9987-46FA-41D2-A107-7DDEE4BCCFFB}" destId="{88DD7A30-5340-4BC1-AABF-7187CF71AB5C}" srcOrd="0" destOrd="0" presId="urn:microsoft.com/office/officeart/2018/2/layout/IconVerticalSolidList"/>
    <dgm:cxn modelId="{8D892776-8BD6-4CC2-A2A1-EC5C7BA0D98A}" type="presParOf" srcId="{1ADF9987-46FA-41D2-A107-7DDEE4BCCFFB}" destId="{A896517F-B115-41BE-9C4C-068B6EF792BB}" srcOrd="1" destOrd="0" presId="urn:microsoft.com/office/officeart/2018/2/layout/IconVerticalSolidList"/>
    <dgm:cxn modelId="{965970CE-1405-458E-8162-D341DA40572D}" type="presParOf" srcId="{1ADF9987-46FA-41D2-A107-7DDEE4BCCFFB}" destId="{3D44C51C-FD77-4A8E-9033-EB2F740071BA}" srcOrd="2" destOrd="0" presId="urn:microsoft.com/office/officeart/2018/2/layout/IconVerticalSolidList"/>
    <dgm:cxn modelId="{DA6C916C-CFF8-4EA5-B528-63D08090C0A0}" type="presParOf" srcId="{1ADF9987-46FA-41D2-A107-7DDEE4BCCFFB}" destId="{AD14E01C-A971-4829-B7B6-541E41FC5C94}" srcOrd="3" destOrd="0" presId="urn:microsoft.com/office/officeart/2018/2/layout/IconVerticalSolidList"/>
    <dgm:cxn modelId="{DA3CE68C-0868-4B8F-95D7-1F48FED92D31}" type="presParOf" srcId="{0CB949B0-C314-4388-B338-A91FAA7BCFF9}" destId="{6911D330-3D33-4354-B0A6-A44A32CBF010}" srcOrd="3" destOrd="0" presId="urn:microsoft.com/office/officeart/2018/2/layout/IconVerticalSolidList"/>
    <dgm:cxn modelId="{EE501403-FFE5-4EEC-BF8D-6C2951D9CFA7}" type="presParOf" srcId="{0CB949B0-C314-4388-B338-A91FAA7BCFF9}" destId="{B863EC83-5263-416C-BFAC-FC4557C9A0D6}" srcOrd="4" destOrd="0" presId="urn:microsoft.com/office/officeart/2018/2/layout/IconVerticalSolidList"/>
    <dgm:cxn modelId="{338E0864-D907-4AF9-90C1-34D224AED9DA}" type="presParOf" srcId="{B863EC83-5263-416C-BFAC-FC4557C9A0D6}" destId="{E44828CD-BD4D-4026-9FE0-A75ED022575B}" srcOrd="0" destOrd="0" presId="urn:microsoft.com/office/officeart/2018/2/layout/IconVerticalSolidList"/>
    <dgm:cxn modelId="{D6E19346-036C-4882-91CF-E4DC4757FC03}" type="presParOf" srcId="{B863EC83-5263-416C-BFAC-FC4557C9A0D6}" destId="{66B8E6B0-BD07-4432-B08A-407893DD4F04}" srcOrd="1" destOrd="0" presId="urn:microsoft.com/office/officeart/2018/2/layout/IconVerticalSolidList"/>
    <dgm:cxn modelId="{E222F31E-C9F1-4005-95B2-699515BBD207}" type="presParOf" srcId="{B863EC83-5263-416C-BFAC-FC4557C9A0D6}" destId="{4E9573B4-1A55-452A-96B7-DC3DB02C8B40}" srcOrd="2" destOrd="0" presId="urn:microsoft.com/office/officeart/2018/2/layout/IconVerticalSolidList"/>
    <dgm:cxn modelId="{54A79F01-044F-495C-A8DD-93AEAD9F62EC}" type="presParOf" srcId="{B863EC83-5263-416C-BFAC-FC4557C9A0D6}" destId="{F808599A-4E9A-48FD-B584-F670DC72D4BF}" srcOrd="3" destOrd="0" presId="urn:microsoft.com/office/officeart/2018/2/layout/IconVerticalSolidList"/>
    <dgm:cxn modelId="{AE8E8487-A7ED-4683-8A81-5D04C5832977}" type="presParOf" srcId="{0CB949B0-C314-4388-B338-A91FAA7BCFF9}" destId="{C2B5CD39-BCC8-4066-B983-BB75807FD932}" srcOrd="5" destOrd="0" presId="urn:microsoft.com/office/officeart/2018/2/layout/IconVerticalSolidList"/>
    <dgm:cxn modelId="{5BB80E6D-E364-43AB-9F3E-4F6123EBB879}" type="presParOf" srcId="{0CB949B0-C314-4388-B338-A91FAA7BCFF9}" destId="{FC97ED25-4A96-477F-A9F6-151D6EF2B300}" srcOrd="6" destOrd="0" presId="urn:microsoft.com/office/officeart/2018/2/layout/IconVerticalSolidList"/>
    <dgm:cxn modelId="{BD1B3BAF-145E-4B2F-9311-296C2D448EE4}" type="presParOf" srcId="{FC97ED25-4A96-477F-A9F6-151D6EF2B300}" destId="{9546D490-13C5-4641-86E1-78C35EA232AF}" srcOrd="0" destOrd="0" presId="urn:microsoft.com/office/officeart/2018/2/layout/IconVerticalSolidList"/>
    <dgm:cxn modelId="{8A0FB57A-A517-4074-BCC9-9684D303EA60}" type="presParOf" srcId="{FC97ED25-4A96-477F-A9F6-151D6EF2B300}" destId="{9C7000B7-4949-4F19-B3F1-43597396C2BD}" srcOrd="1" destOrd="0" presId="urn:microsoft.com/office/officeart/2018/2/layout/IconVerticalSolidList"/>
    <dgm:cxn modelId="{F29A15D8-D9BA-4CE6-A57D-F5222DFB344D}" type="presParOf" srcId="{FC97ED25-4A96-477F-A9F6-151D6EF2B300}" destId="{3D1901D9-B637-4CD7-9938-D223B57CD1ED}" srcOrd="2" destOrd="0" presId="urn:microsoft.com/office/officeart/2018/2/layout/IconVerticalSolidList"/>
    <dgm:cxn modelId="{18FB68CF-95DF-4A86-9B01-F2BDC3FE05D2}" type="presParOf" srcId="{FC97ED25-4A96-477F-A9F6-151D6EF2B300}" destId="{FD6EC6EB-608B-4D68-A784-D9E1DCA2E16B}" srcOrd="3" destOrd="0" presId="urn:microsoft.com/office/officeart/2018/2/layout/IconVerticalSolidList"/>
    <dgm:cxn modelId="{3E3BDA6F-10DE-4ABC-AB8F-07F814CB289B}" type="presParOf" srcId="{0CB949B0-C314-4388-B338-A91FAA7BCFF9}" destId="{899862F0-2C2D-4D77-AEDA-28BEF1892F17}" srcOrd="7" destOrd="0" presId="urn:microsoft.com/office/officeart/2018/2/layout/IconVerticalSolidList"/>
    <dgm:cxn modelId="{B1807C74-EFDD-431A-9B81-50A16E6F3C44}" type="presParOf" srcId="{0CB949B0-C314-4388-B338-A91FAA7BCFF9}" destId="{85767341-B8B8-4E2E-BD1A-D623F506794B}" srcOrd="8" destOrd="0" presId="urn:microsoft.com/office/officeart/2018/2/layout/IconVerticalSolidList"/>
    <dgm:cxn modelId="{6224D287-173E-4F06-9840-75947AD14A84}" type="presParOf" srcId="{85767341-B8B8-4E2E-BD1A-D623F506794B}" destId="{F4887797-F4EB-4938-8F9A-86068DBBF3B2}" srcOrd="0" destOrd="0" presId="urn:microsoft.com/office/officeart/2018/2/layout/IconVerticalSolidList"/>
    <dgm:cxn modelId="{7C55A65D-AA23-405C-80A8-6189DE795C9B}" type="presParOf" srcId="{85767341-B8B8-4E2E-BD1A-D623F506794B}" destId="{08D81370-FE77-401A-B237-C8C2499244E8}" srcOrd="1" destOrd="0" presId="urn:microsoft.com/office/officeart/2018/2/layout/IconVerticalSolidList"/>
    <dgm:cxn modelId="{860CFD2B-9C40-4810-8273-A1BEAA3D7F1F}" type="presParOf" srcId="{85767341-B8B8-4E2E-BD1A-D623F506794B}" destId="{D96521CE-F2A9-4A3F-B01C-5EA79082BF7D}" srcOrd="2" destOrd="0" presId="urn:microsoft.com/office/officeart/2018/2/layout/IconVerticalSolidList"/>
    <dgm:cxn modelId="{A4EC9B98-C43D-4BD5-AABF-3CBE87A3254C}" type="presParOf" srcId="{85767341-B8B8-4E2E-BD1A-D623F506794B}" destId="{ED7DE74E-76B0-4526-A4E3-24B6C64BAFC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D37AA08-CE1E-45F0-BBE7-2AD3DA7A6D68}" type="doc">
      <dgm:prSet loTypeId="urn:microsoft.com/office/officeart/2018/2/layout/IconVerticalSolidList" loCatId="icon" qsTypeId="urn:microsoft.com/office/officeart/2005/8/quickstyle/simple1#5" qsCatId="simple" csTypeId="urn:microsoft.com/office/officeart/2005/8/colors/accent2_2#3" csCatId="accent2" phldr="1"/>
      <dgm:spPr/>
      <dgm:t>
        <a:bodyPr/>
        <a:lstStyle/>
        <a:p>
          <a:endParaRPr lang="en-US"/>
        </a:p>
      </dgm:t>
    </dgm:pt>
    <dgm:pt modelId="{3B5A9552-8257-4AFD-81B2-D7E4328258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Approximately 4% of small businesses close after one year</a:t>
          </a:r>
        </a:p>
      </dgm:t>
    </dgm:pt>
    <dgm:pt modelId="{B42A27DF-3E52-4432-AA49-C0851374736F}" type="parTrans" cxnId="{50A25AE0-05A1-45C9-B89D-A486EC9BAF03}">
      <dgm:prSet/>
      <dgm:spPr/>
      <dgm:t>
        <a:bodyPr/>
        <a:lstStyle/>
        <a:p>
          <a:endParaRPr lang="en-US"/>
        </a:p>
      </dgm:t>
    </dgm:pt>
    <dgm:pt modelId="{F9E99586-8DDB-4279-9BCD-DCCAE1A384DA}" type="sibTrans" cxnId="{50A25AE0-05A1-45C9-B89D-A486EC9BAF03}">
      <dgm:prSet/>
      <dgm:spPr/>
      <dgm:t>
        <a:bodyPr/>
        <a:lstStyle/>
        <a:p>
          <a:endParaRPr lang="en-US"/>
        </a:p>
      </dgm:t>
    </dgm:pt>
    <dgm:pt modelId="{A089DFA4-D732-4DC7-AA53-3335980B24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Approximately 15% of small businesses close permanently within three years</a:t>
          </a:r>
        </a:p>
      </dgm:t>
    </dgm:pt>
    <dgm:pt modelId="{AE36B757-4204-4909-8351-B1D310A9861B}" type="parTrans" cxnId="{446B82D6-64B5-4095-9FB6-FCABF1ACE9C0}">
      <dgm:prSet/>
      <dgm:spPr/>
      <dgm:t>
        <a:bodyPr/>
        <a:lstStyle/>
        <a:p>
          <a:endParaRPr lang="en-US"/>
        </a:p>
      </dgm:t>
    </dgm:pt>
    <dgm:pt modelId="{67A9837D-1D8F-43BC-8CDC-843C8127BCB8}" type="sibTrans" cxnId="{446B82D6-64B5-4095-9FB6-FCABF1ACE9C0}">
      <dgm:prSet/>
      <dgm:spPr/>
      <dgm:t>
        <a:bodyPr/>
        <a:lstStyle/>
        <a:p>
          <a:endParaRPr lang="en-US"/>
        </a:p>
      </dgm:t>
    </dgm:pt>
    <dgm:pt modelId="{B577405A-0F29-4E1F-AAE2-75178F20B7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Approximately 30% of small businesses fail within five years</a:t>
          </a:r>
        </a:p>
      </dgm:t>
    </dgm:pt>
    <dgm:pt modelId="{7F6EF4A2-37D8-4CD0-B3ED-582547DBA2D8}" type="parTrans" cxnId="{86C6A0D8-6459-4B82-8135-696692F826F1}">
      <dgm:prSet/>
      <dgm:spPr/>
      <dgm:t>
        <a:bodyPr/>
        <a:lstStyle/>
        <a:p>
          <a:endParaRPr lang="en-US"/>
        </a:p>
      </dgm:t>
    </dgm:pt>
    <dgm:pt modelId="{47CC48BC-9D77-4081-B687-590658A91555}" type="sibTrans" cxnId="{86C6A0D8-6459-4B82-8135-696692F826F1}">
      <dgm:prSet/>
      <dgm:spPr/>
      <dgm:t>
        <a:bodyPr/>
        <a:lstStyle/>
        <a:p>
          <a:endParaRPr lang="en-US"/>
        </a:p>
      </dgm:t>
    </dgm:pt>
    <dgm:pt modelId="{C6EDD78A-8469-4774-9831-1D38EA782EF0}" type="pres">
      <dgm:prSet presAssocID="{FD37AA08-CE1E-45F0-BBE7-2AD3DA7A6D68}" presName="root" presStyleCnt="0">
        <dgm:presLayoutVars>
          <dgm:dir/>
          <dgm:resizeHandles val="exact"/>
        </dgm:presLayoutVars>
      </dgm:prSet>
      <dgm:spPr/>
    </dgm:pt>
    <dgm:pt modelId="{0BAD3B8E-2157-4B2C-892D-54A5CD84E9E7}" type="pres">
      <dgm:prSet presAssocID="{3B5A9552-8257-4AFD-81B2-D7E43282585A}" presName="compNode" presStyleCnt="0"/>
      <dgm:spPr/>
    </dgm:pt>
    <dgm:pt modelId="{929D2C47-CF38-4020-82EB-6FF7A815312A}" type="pres">
      <dgm:prSet presAssocID="{3B5A9552-8257-4AFD-81B2-D7E43282585A}" presName="bgRect" presStyleLbl="bgShp" presStyleIdx="0" presStyleCnt="3"/>
      <dgm:spPr/>
    </dgm:pt>
    <dgm:pt modelId="{FF16EBEF-C118-4D1E-AD2F-B2ADC237D7E9}" type="pres">
      <dgm:prSet presAssocID="{3B5A9552-8257-4AFD-81B2-D7E43282585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80BB245B-9018-404D-93CC-8024AC1C80AC}" type="pres">
      <dgm:prSet presAssocID="{3B5A9552-8257-4AFD-81B2-D7E43282585A}" presName="spaceRect" presStyleCnt="0"/>
      <dgm:spPr/>
    </dgm:pt>
    <dgm:pt modelId="{2C3BEF75-2083-437E-A053-F6578DBF47F0}" type="pres">
      <dgm:prSet presAssocID="{3B5A9552-8257-4AFD-81B2-D7E43282585A}" presName="parTx" presStyleLbl="revTx" presStyleIdx="0" presStyleCnt="3">
        <dgm:presLayoutVars>
          <dgm:chMax val="0"/>
          <dgm:chPref val="0"/>
        </dgm:presLayoutVars>
      </dgm:prSet>
      <dgm:spPr/>
    </dgm:pt>
    <dgm:pt modelId="{FCC5E2C8-A82D-40A8-BF4D-B2E7672E374D}" type="pres">
      <dgm:prSet presAssocID="{F9E99586-8DDB-4279-9BCD-DCCAE1A384DA}" presName="sibTrans" presStyleCnt="0"/>
      <dgm:spPr/>
    </dgm:pt>
    <dgm:pt modelId="{CDA1D9AB-2BB6-4721-B59B-CDEB792D38D4}" type="pres">
      <dgm:prSet presAssocID="{A089DFA4-D732-4DC7-AA53-3335980B248B}" presName="compNode" presStyleCnt="0"/>
      <dgm:spPr/>
    </dgm:pt>
    <dgm:pt modelId="{C79D04AB-E731-43EE-983E-83C0BB976994}" type="pres">
      <dgm:prSet presAssocID="{A089DFA4-D732-4DC7-AA53-3335980B248B}" presName="bgRect" presStyleLbl="bgShp" presStyleIdx="1" presStyleCnt="3"/>
      <dgm:spPr/>
    </dgm:pt>
    <dgm:pt modelId="{4BA96C42-2018-4EB4-81A6-380DB9669B66}" type="pres">
      <dgm:prSet presAssocID="{A089DFA4-D732-4DC7-AA53-3335980B248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744AAFAB-EE4E-465D-8902-FB3C738E46DD}" type="pres">
      <dgm:prSet presAssocID="{A089DFA4-D732-4DC7-AA53-3335980B248B}" presName="spaceRect" presStyleCnt="0"/>
      <dgm:spPr/>
    </dgm:pt>
    <dgm:pt modelId="{1F52E0C9-7C25-4821-971F-CE9DF1A1B535}" type="pres">
      <dgm:prSet presAssocID="{A089DFA4-D732-4DC7-AA53-3335980B248B}" presName="parTx" presStyleLbl="revTx" presStyleIdx="1" presStyleCnt="3">
        <dgm:presLayoutVars>
          <dgm:chMax val="0"/>
          <dgm:chPref val="0"/>
        </dgm:presLayoutVars>
      </dgm:prSet>
      <dgm:spPr/>
    </dgm:pt>
    <dgm:pt modelId="{D61EE55C-AF20-46A2-AE25-4B3C07E4AAA6}" type="pres">
      <dgm:prSet presAssocID="{67A9837D-1D8F-43BC-8CDC-843C8127BCB8}" presName="sibTrans" presStyleCnt="0"/>
      <dgm:spPr/>
    </dgm:pt>
    <dgm:pt modelId="{D09D1A2C-9289-40A9-A892-8E21D44D7C03}" type="pres">
      <dgm:prSet presAssocID="{B577405A-0F29-4E1F-AAE2-75178F20B7C5}" presName="compNode" presStyleCnt="0"/>
      <dgm:spPr/>
    </dgm:pt>
    <dgm:pt modelId="{A800E47F-863A-4FEB-8A2C-80DCA05C6BDD}" type="pres">
      <dgm:prSet presAssocID="{B577405A-0F29-4E1F-AAE2-75178F20B7C5}" presName="bgRect" presStyleLbl="bgShp" presStyleIdx="2" presStyleCnt="3"/>
      <dgm:spPr/>
    </dgm:pt>
    <dgm:pt modelId="{B0691866-0120-41C3-8249-AF9D3FFBF182}" type="pres">
      <dgm:prSet presAssocID="{B577405A-0F29-4E1F-AAE2-75178F20B7C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26AF1891-BD69-4EB2-B20C-C17290CD5BE6}" type="pres">
      <dgm:prSet presAssocID="{B577405A-0F29-4E1F-AAE2-75178F20B7C5}" presName="spaceRect" presStyleCnt="0"/>
      <dgm:spPr/>
    </dgm:pt>
    <dgm:pt modelId="{CCC9D425-C3F6-47A6-BF3F-7F634F951ABF}" type="pres">
      <dgm:prSet presAssocID="{B577405A-0F29-4E1F-AAE2-75178F20B7C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8A07197-56D6-401B-9D48-1D81536875FD}" type="presOf" srcId="{3B5A9552-8257-4AFD-81B2-D7E43282585A}" destId="{2C3BEF75-2083-437E-A053-F6578DBF47F0}" srcOrd="0" destOrd="0" presId="urn:microsoft.com/office/officeart/2018/2/layout/IconVerticalSolidList"/>
    <dgm:cxn modelId="{B97CE19A-AC8A-4BF8-AB6F-F92619195094}" type="presOf" srcId="{B577405A-0F29-4E1F-AAE2-75178F20B7C5}" destId="{CCC9D425-C3F6-47A6-BF3F-7F634F951ABF}" srcOrd="0" destOrd="0" presId="urn:microsoft.com/office/officeart/2018/2/layout/IconVerticalSolidList"/>
    <dgm:cxn modelId="{2AA863A2-2603-496E-8BF2-E1191BAC1B67}" type="presOf" srcId="{FD37AA08-CE1E-45F0-BBE7-2AD3DA7A6D68}" destId="{C6EDD78A-8469-4774-9831-1D38EA782EF0}" srcOrd="0" destOrd="0" presId="urn:microsoft.com/office/officeart/2018/2/layout/IconVerticalSolidList"/>
    <dgm:cxn modelId="{446B82D6-64B5-4095-9FB6-FCABF1ACE9C0}" srcId="{FD37AA08-CE1E-45F0-BBE7-2AD3DA7A6D68}" destId="{A089DFA4-D732-4DC7-AA53-3335980B248B}" srcOrd="1" destOrd="0" parTransId="{AE36B757-4204-4909-8351-B1D310A9861B}" sibTransId="{67A9837D-1D8F-43BC-8CDC-843C8127BCB8}"/>
    <dgm:cxn modelId="{86C6A0D8-6459-4B82-8135-696692F826F1}" srcId="{FD37AA08-CE1E-45F0-BBE7-2AD3DA7A6D68}" destId="{B577405A-0F29-4E1F-AAE2-75178F20B7C5}" srcOrd="2" destOrd="0" parTransId="{7F6EF4A2-37D8-4CD0-B3ED-582547DBA2D8}" sibTransId="{47CC48BC-9D77-4081-B687-590658A91555}"/>
    <dgm:cxn modelId="{8856B3D8-DA6A-4A9E-BE85-D41AA44056F4}" type="presOf" srcId="{A089DFA4-D732-4DC7-AA53-3335980B248B}" destId="{1F52E0C9-7C25-4821-971F-CE9DF1A1B535}" srcOrd="0" destOrd="0" presId="urn:microsoft.com/office/officeart/2018/2/layout/IconVerticalSolidList"/>
    <dgm:cxn modelId="{50A25AE0-05A1-45C9-B89D-A486EC9BAF03}" srcId="{FD37AA08-CE1E-45F0-BBE7-2AD3DA7A6D68}" destId="{3B5A9552-8257-4AFD-81B2-D7E43282585A}" srcOrd="0" destOrd="0" parTransId="{B42A27DF-3E52-4432-AA49-C0851374736F}" sibTransId="{F9E99586-8DDB-4279-9BCD-DCCAE1A384DA}"/>
    <dgm:cxn modelId="{99F2B0C1-7669-46B0-B0DC-CE48B8901529}" type="presParOf" srcId="{C6EDD78A-8469-4774-9831-1D38EA782EF0}" destId="{0BAD3B8E-2157-4B2C-892D-54A5CD84E9E7}" srcOrd="0" destOrd="0" presId="urn:microsoft.com/office/officeart/2018/2/layout/IconVerticalSolidList"/>
    <dgm:cxn modelId="{6B14025E-8A59-4DA3-9E50-C571B3390AF3}" type="presParOf" srcId="{0BAD3B8E-2157-4B2C-892D-54A5CD84E9E7}" destId="{929D2C47-CF38-4020-82EB-6FF7A815312A}" srcOrd="0" destOrd="0" presId="urn:microsoft.com/office/officeart/2018/2/layout/IconVerticalSolidList"/>
    <dgm:cxn modelId="{6F9FB935-6FC8-4B66-91F2-D850E5276FD9}" type="presParOf" srcId="{0BAD3B8E-2157-4B2C-892D-54A5CD84E9E7}" destId="{FF16EBEF-C118-4D1E-AD2F-B2ADC237D7E9}" srcOrd="1" destOrd="0" presId="urn:microsoft.com/office/officeart/2018/2/layout/IconVerticalSolidList"/>
    <dgm:cxn modelId="{DFB79488-3EF1-4F42-B376-6776AAC7E71C}" type="presParOf" srcId="{0BAD3B8E-2157-4B2C-892D-54A5CD84E9E7}" destId="{80BB245B-9018-404D-93CC-8024AC1C80AC}" srcOrd="2" destOrd="0" presId="urn:microsoft.com/office/officeart/2018/2/layout/IconVerticalSolidList"/>
    <dgm:cxn modelId="{57FE9C34-7AB9-4289-B1C5-9760D5C2B02E}" type="presParOf" srcId="{0BAD3B8E-2157-4B2C-892D-54A5CD84E9E7}" destId="{2C3BEF75-2083-437E-A053-F6578DBF47F0}" srcOrd="3" destOrd="0" presId="urn:microsoft.com/office/officeart/2018/2/layout/IconVerticalSolidList"/>
    <dgm:cxn modelId="{5D903C43-CF0A-438E-AA42-4AE7F0F5B230}" type="presParOf" srcId="{C6EDD78A-8469-4774-9831-1D38EA782EF0}" destId="{FCC5E2C8-A82D-40A8-BF4D-B2E7672E374D}" srcOrd="1" destOrd="0" presId="urn:microsoft.com/office/officeart/2018/2/layout/IconVerticalSolidList"/>
    <dgm:cxn modelId="{95A3C34F-4B8F-45E0-8A95-71FFC61EA407}" type="presParOf" srcId="{C6EDD78A-8469-4774-9831-1D38EA782EF0}" destId="{CDA1D9AB-2BB6-4721-B59B-CDEB792D38D4}" srcOrd="2" destOrd="0" presId="urn:microsoft.com/office/officeart/2018/2/layout/IconVerticalSolidList"/>
    <dgm:cxn modelId="{0D370A73-1401-4F6D-8D17-E1B9C7F2CFD4}" type="presParOf" srcId="{CDA1D9AB-2BB6-4721-B59B-CDEB792D38D4}" destId="{C79D04AB-E731-43EE-983E-83C0BB976994}" srcOrd="0" destOrd="0" presId="urn:microsoft.com/office/officeart/2018/2/layout/IconVerticalSolidList"/>
    <dgm:cxn modelId="{0A27B959-61F2-41D7-A146-60E3CB52924D}" type="presParOf" srcId="{CDA1D9AB-2BB6-4721-B59B-CDEB792D38D4}" destId="{4BA96C42-2018-4EB4-81A6-380DB9669B66}" srcOrd="1" destOrd="0" presId="urn:microsoft.com/office/officeart/2018/2/layout/IconVerticalSolidList"/>
    <dgm:cxn modelId="{FCF48074-EA7D-4BBF-B594-53A36360E368}" type="presParOf" srcId="{CDA1D9AB-2BB6-4721-B59B-CDEB792D38D4}" destId="{744AAFAB-EE4E-465D-8902-FB3C738E46DD}" srcOrd="2" destOrd="0" presId="urn:microsoft.com/office/officeart/2018/2/layout/IconVerticalSolidList"/>
    <dgm:cxn modelId="{E5B043EC-78E6-4BB2-A2DC-7137FBB0247C}" type="presParOf" srcId="{CDA1D9AB-2BB6-4721-B59B-CDEB792D38D4}" destId="{1F52E0C9-7C25-4821-971F-CE9DF1A1B535}" srcOrd="3" destOrd="0" presId="urn:microsoft.com/office/officeart/2018/2/layout/IconVerticalSolidList"/>
    <dgm:cxn modelId="{63D0A7C7-7872-412D-9B3C-2B098DE0807B}" type="presParOf" srcId="{C6EDD78A-8469-4774-9831-1D38EA782EF0}" destId="{D61EE55C-AF20-46A2-AE25-4B3C07E4AAA6}" srcOrd="3" destOrd="0" presId="urn:microsoft.com/office/officeart/2018/2/layout/IconVerticalSolidList"/>
    <dgm:cxn modelId="{FB394367-798E-4688-A57E-BA5FF3CE0C4E}" type="presParOf" srcId="{C6EDD78A-8469-4774-9831-1D38EA782EF0}" destId="{D09D1A2C-9289-40A9-A892-8E21D44D7C03}" srcOrd="4" destOrd="0" presId="urn:microsoft.com/office/officeart/2018/2/layout/IconVerticalSolidList"/>
    <dgm:cxn modelId="{05A2EB5F-67CE-4300-9B78-13A332CC2BAC}" type="presParOf" srcId="{D09D1A2C-9289-40A9-A892-8E21D44D7C03}" destId="{A800E47F-863A-4FEB-8A2C-80DCA05C6BDD}" srcOrd="0" destOrd="0" presId="urn:microsoft.com/office/officeart/2018/2/layout/IconVerticalSolidList"/>
    <dgm:cxn modelId="{6C6E55F4-3199-4641-80CA-6820953DD1B0}" type="presParOf" srcId="{D09D1A2C-9289-40A9-A892-8E21D44D7C03}" destId="{B0691866-0120-41C3-8249-AF9D3FFBF182}" srcOrd="1" destOrd="0" presId="urn:microsoft.com/office/officeart/2018/2/layout/IconVerticalSolidList"/>
    <dgm:cxn modelId="{DFE032FE-5C22-4147-BEA5-49FAB798AC22}" type="presParOf" srcId="{D09D1A2C-9289-40A9-A892-8E21D44D7C03}" destId="{26AF1891-BD69-4EB2-B20C-C17290CD5BE6}" srcOrd="2" destOrd="0" presId="urn:microsoft.com/office/officeart/2018/2/layout/IconVerticalSolidList"/>
    <dgm:cxn modelId="{EB5E1200-360C-4510-9F83-67650AEE03B7}" type="presParOf" srcId="{D09D1A2C-9289-40A9-A892-8E21D44D7C03}" destId="{CCC9D425-C3F6-47A6-BF3F-7F634F951A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E9EC7E7-2DA9-4D03-91AC-208774865A34}" type="doc">
      <dgm:prSet loTypeId="urn:microsoft.com/office/officeart/2005/8/layout/process4" loCatId="process" qsTypeId="urn:microsoft.com/office/officeart/2005/8/quickstyle/simple2#1" qsCatId="simple" csTypeId="urn:microsoft.com/office/officeart/2005/8/colors/accent2_2#4" csCatId="accent2" phldr="1"/>
      <dgm:spPr/>
      <dgm:t>
        <a:bodyPr/>
        <a:lstStyle/>
        <a:p>
          <a:endParaRPr lang="en-US"/>
        </a:p>
      </dgm:t>
    </dgm:pt>
    <dgm:pt modelId="{2A7D8C0D-40C1-412A-B919-7DF44B857FCF}">
      <dgm:prSet/>
      <dgm:spPr/>
      <dgm:t>
        <a:bodyPr/>
        <a:lstStyle/>
        <a:p>
          <a:r>
            <a:rPr lang="en-US" dirty="0"/>
            <a:t>Industry Canada defines a small business as an “independent business with fewer than 100 employees and revenues less than $2 million”</a:t>
          </a:r>
        </a:p>
      </dgm:t>
    </dgm:pt>
    <dgm:pt modelId="{93601C24-9782-4627-9FAB-6BFABF43CB03}" type="parTrans" cxnId="{C6F25D0E-FC41-4D1D-AD9E-B2BEB57DB780}">
      <dgm:prSet/>
      <dgm:spPr/>
      <dgm:t>
        <a:bodyPr/>
        <a:lstStyle/>
        <a:p>
          <a:endParaRPr lang="en-US"/>
        </a:p>
      </dgm:t>
    </dgm:pt>
    <dgm:pt modelId="{B1ADDF7D-DE96-492B-89DD-47BFCE33C3FE}" type="sibTrans" cxnId="{C6F25D0E-FC41-4D1D-AD9E-B2BEB57DB780}">
      <dgm:prSet/>
      <dgm:spPr/>
      <dgm:t>
        <a:bodyPr/>
        <a:lstStyle/>
        <a:p>
          <a:endParaRPr lang="en-US"/>
        </a:p>
      </dgm:t>
    </dgm:pt>
    <dgm:pt modelId="{B6FA367E-A578-4C40-ACEC-0FCE8B953393}">
      <dgm:prSet/>
      <dgm:spPr/>
      <dgm:t>
        <a:bodyPr/>
        <a:lstStyle/>
        <a:p>
          <a:r>
            <a:rPr lang="en-US" dirty="0"/>
            <a:t>Small businesses account for approximately two-thirds of the employment in five Canadian industries: non-institutional health care, construction, accommodation and food, forestry, and other services</a:t>
          </a:r>
        </a:p>
      </dgm:t>
    </dgm:pt>
    <dgm:pt modelId="{E7AD2D5A-06F5-498B-A7DD-427235756D02}" type="parTrans" cxnId="{7F284BC3-EF36-40DF-BBD0-518582E1BA44}">
      <dgm:prSet/>
      <dgm:spPr/>
      <dgm:t>
        <a:bodyPr/>
        <a:lstStyle/>
        <a:p>
          <a:endParaRPr lang="en-US"/>
        </a:p>
      </dgm:t>
    </dgm:pt>
    <dgm:pt modelId="{D5B8C827-9855-424F-BC67-B54DAA4FA74F}" type="sibTrans" cxnId="{7F284BC3-EF36-40DF-BBD0-518582E1BA44}">
      <dgm:prSet/>
      <dgm:spPr/>
      <dgm:t>
        <a:bodyPr/>
        <a:lstStyle/>
        <a:p>
          <a:endParaRPr lang="en-US"/>
        </a:p>
      </dgm:t>
    </dgm:pt>
    <dgm:pt modelId="{FA357218-C543-44C9-9916-BD6537B24283}" type="pres">
      <dgm:prSet presAssocID="{5E9EC7E7-2DA9-4D03-91AC-208774865A34}" presName="Name0" presStyleCnt="0">
        <dgm:presLayoutVars>
          <dgm:dir/>
          <dgm:animLvl val="lvl"/>
          <dgm:resizeHandles val="exact"/>
        </dgm:presLayoutVars>
      </dgm:prSet>
      <dgm:spPr/>
    </dgm:pt>
    <dgm:pt modelId="{F407D981-5299-4E79-8D9F-1FEF94C4DB0E}" type="pres">
      <dgm:prSet presAssocID="{B6FA367E-A578-4C40-ACEC-0FCE8B953393}" presName="boxAndChildren" presStyleCnt="0"/>
      <dgm:spPr/>
    </dgm:pt>
    <dgm:pt modelId="{A22588F3-B913-450C-B80B-6953FF0B4010}" type="pres">
      <dgm:prSet presAssocID="{B6FA367E-A578-4C40-ACEC-0FCE8B953393}" presName="parentTextBox" presStyleLbl="node1" presStyleIdx="0" presStyleCnt="2"/>
      <dgm:spPr/>
    </dgm:pt>
    <dgm:pt modelId="{0D38978B-4D13-4147-8C24-A10E68DDF8BE}" type="pres">
      <dgm:prSet presAssocID="{B1ADDF7D-DE96-492B-89DD-47BFCE33C3FE}" presName="sp" presStyleCnt="0"/>
      <dgm:spPr/>
    </dgm:pt>
    <dgm:pt modelId="{D2BB13ED-A785-4437-8CA9-A7EE8DE0ADC8}" type="pres">
      <dgm:prSet presAssocID="{2A7D8C0D-40C1-412A-B919-7DF44B857FCF}" presName="arrowAndChildren" presStyleCnt="0"/>
      <dgm:spPr/>
    </dgm:pt>
    <dgm:pt modelId="{AF828C8E-8E71-40F2-93F5-AAD8095E0D3E}" type="pres">
      <dgm:prSet presAssocID="{2A7D8C0D-40C1-412A-B919-7DF44B857FCF}" presName="parentTextArrow" presStyleLbl="node1" presStyleIdx="1" presStyleCnt="2"/>
      <dgm:spPr/>
    </dgm:pt>
  </dgm:ptLst>
  <dgm:cxnLst>
    <dgm:cxn modelId="{C6F25D0E-FC41-4D1D-AD9E-B2BEB57DB780}" srcId="{5E9EC7E7-2DA9-4D03-91AC-208774865A34}" destId="{2A7D8C0D-40C1-412A-B919-7DF44B857FCF}" srcOrd="0" destOrd="0" parTransId="{93601C24-9782-4627-9FAB-6BFABF43CB03}" sibTransId="{B1ADDF7D-DE96-492B-89DD-47BFCE33C3FE}"/>
    <dgm:cxn modelId="{7A81501C-1621-41F0-B868-1EE23DC4BBA4}" type="presOf" srcId="{2A7D8C0D-40C1-412A-B919-7DF44B857FCF}" destId="{AF828C8E-8E71-40F2-93F5-AAD8095E0D3E}" srcOrd="0" destOrd="0" presId="urn:microsoft.com/office/officeart/2005/8/layout/process4"/>
    <dgm:cxn modelId="{59360676-8636-4FEF-A468-2A13540B6BE4}" type="presOf" srcId="{B6FA367E-A578-4C40-ACEC-0FCE8B953393}" destId="{A22588F3-B913-450C-B80B-6953FF0B4010}" srcOrd="0" destOrd="0" presId="urn:microsoft.com/office/officeart/2005/8/layout/process4"/>
    <dgm:cxn modelId="{7F284BC3-EF36-40DF-BBD0-518582E1BA44}" srcId="{5E9EC7E7-2DA9-4D03-91AC-208774865A34}" destId="{B6FA367E-A578-4C40-ACEC-0FCE8B953393}" srcOrd="1" destOrd="0" parTransId="{E7AD2D5A-06F5-498B-A7DD-427235756D02}" sibTransId="{D5B8C827-9855-424F-BC67-B54DAA4FA74F}"/>
    <dgm:cxn modelId="{7B7B2DCA-6180-4162-BE9E-8478C9A24B78}" type="presOf" srcId="{5E9EC7E7-2DA9-4D03-91AC-208774865A34}" destId="{FA357218-C543-44C9-9916-BD6537B24283}" srcOrd="0" destOrd="0" presId="urn:microsoft.com/office/officeart/2005/8/layout/process4"/>
    <dgm:cxn modelId="{D146CCA1-AB8D-4A0B-A4AB-FBF9D9185AAA}" type="presParOf" srcId="{FA357218-C543-44C9-9916-BD6537B24283}" destId="{F407D981-5299-4E79-8D9F-1FEF94C4DB0E}" srcOrd="0" destOrd="0" presId="urn:microsoft.com/office/officeart/2005/8/layout/process4"/>
    <dgm:cxn modelId="{11833BB7-8E8A-4AA0-95DE-0B971C9C5989}" type="presParOf" srcId="{F407D981-5299-4E79-8D9F-1FEF94C4DB0E}" destId="{A22588F3-B913-450C-B80B-6953FF0B4010}" srcOrd="0" destOrd="0" presId="urn:microsoft.com/office/officeart/2005/8/layout/process4"/>
    <dgm:cxn modelId="{8E9651C4-EE8A-43ED-BAA8-2677818EBBAC}" type="presParOf" srcId="{FA357218-C543-44C9-9916-BD6537B24283}" destId="{0D38978B-4D13-4147-8C24-A10E68DDF8BE}" srcOrd="1" destOrd="0" presId="urn:microsoft.com/office/officeart/2005/8/layout/process4"/>
    <dgm:cxn modelId="{A6E063BC-086F-4715-A6C5-8D1B95735175}" type="presParOf" srcId="{FA357218-C543-44C9-9916-BD6537B24283}" destId="{D2BB13ED-A785-4437-8CA9-A7EE8DE0ADC8}" srcOrd="2" destOrd="0" presId="urn:microsoft.com/office/officeart/2005/8/layout/process4"/>
    <dgm:cxn modelId="{76AEA5C8-2006-48DA-8ED0-A134B9AA2FE1}" type="presParOf" srcId="{D2BB13ED-A785-4437-8CA9-A7EE8DE0ADC8}" destId="{AF828C8E-8E71-40F2-93F5-AAD8095E0D3E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0072CCF-8098-4356-A4EE-2DEA205A0469}" type="doc">
      <dgm:prSet loTypeId="urn:microsoft.com/office/officeart/2018/2/layout/IconVerticalSolidList" loCatId="icon" qsTypeId="urn:microsoft.com/office/officeart/2005/8/quickstyle/simple1#6" qsCatId="simple" csTypeId="urn:microsoft.com/office/officeart/2005/8/colors/accent2_2#5" csCatId="accent2" phldr="1"/>
      <dgm:spPr/>
      <dgm:t>
        <a:bodyPr/>
        <a:lstStyle/>
        <a:p>
          <a:endParaRPr lang="en-US"/>
        </a:p>
      </dgm:t>
    </dgm:pt>
    <dgm:pt modelId="{1D30EDC0-476E-4EE1-98CA-C023C5AA77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government unit or agency owns and operates an organization</a:t>
          </a:r>
        </a:p>
      </dgm:t>
    </dgm:pt>
    <dgm:pt modelId="{F902E2A1-F2E4-4FE9-83A0-7F8E3971B32D}" type="parTrans" cxnId="{39142BA1-CA03-4F0B-AE85-5BDD6A9A16E7}">
      <dgm:prSet/>
      <dgm:spPr/>
      <dgm:t>
        <a:bodyPr/>
        <a:lstStyle/>
        <a:p>
          <a:endParaRPr lang="en-US"/>
        </a:p>
      </dgm:t>
    </dgm:pt>
    <dgm:pt modelId="{F9D944ED-7DB9-4A08-97F3-E1961FCB6634}" type="sibTrans" cxnId="{39142BA1-CA03-4F0B-AE85-5BDD6A9A16E7}">
      <dgm:prSet/>
      <dgm:spPr/>
      <dgm:t>
        <a:bodyPr/>
        <a:lstStyle/>
        <a:p>
          <a:endParaRPr lang="en-US"/>
        </a:p>
      </dgm:t>
    </dgm:pt>
    <dgm:pt modelId="{E79954F2-7E52-4485-AB2D-799ED8F270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Examples: Manitoba Hydro, Toronto Transit Commission (TTC)</a:t>
          </a:r>
        </a:p>
      </dgm:t>
    </dgm:pt>
    <dgm:pt modelId="{44597AF6-3248-4455-BDA6-8F4520A736AC}" type="parTrans" cxnId="{1A49EAF2-BA4C-4A80-BD9F-397463B70119}">
      <dgm:prSet/>
      <dgm:spPr/>
      <dgm:t>
        <a:bodyPr/>
        <a:lstStyle/>
        <a:p>
          <a:endParaRPr lang="en-US"/>
        </a:p>
      </dgm:t>
    </dgm:pt>
    <dgm:pt modelId="{6FDC6663-A0BE-4618-B4F5-79C21734B603}" type="sibTrans" cxnId="{1A49EAF2-BA4C-4A80-BD9F-397463B70119}">
      <dgm:prSet/>
      <dgm:spPr/>
      <dgm:t>
        <a:bodyPr/>
        <a:lstStyle/>
        <a:p>
          <a:endParaRPr lang="en-US"/>
        </a:p>
      </dgm:t>
    </dgm:pt>
    <dgm:pt modelId="{2CAC4975-4847-4189-B175-A6E5F473E2EA}" type="pres">
      <dgm:prSet presAssocID="{40072CCF-8098-4356-A4EE-2DEA205A0469}" presName="root" presStyleCnt="0">
        <dgm:presLayoutVars>
          <dgm:dir/>
          <dgm:resizeHandles val="exact"/>
        </dgm:presLayoutVars>
      </dgm:prSet>
      <dgm:spPr/>
    </dgm:pt>
    <dgm:pt modelId="{480103D4-96E1-40C8-A958-C0FBF70C59E7}" type="pres">
      <dgm:prSet presAssocID="{1D30EDC0-476E-4EE1-98CA-C023C5AA770C}" presName="compNode" presStyleCnt="0"/>
      <dgm:spPr/>
    </dgm:pt>
    <dgm:pt modelId="{B2247D56-1D2A-4BEC-9F94-317AD143BA4E}" type="pres">
      <dgm:prSet presAssocID="{1D30EDC0-476E-4EE1-98CA-C023C5AA770C}" presName="bgRect" presStyleLbl="bgShp" presStyleIdx="0" presStyleCnt="2"/>
      <dgm:spPr/>
    </dgm:pt>
    <dgm:pt modelId="{A57EBC7A-B1C4-4877-894E-DD9B627303D8}" type="pres">
      <dgm:prSet presAssocID="{1D30EDC0-476E-4EE1-98CA-C023C5AA770C}" presName="iconRect" presStyleLbl="node1" presStyleIdx="0" presStyleCnt="2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56D49CFA-FAFB-47D1-8C44-84FEDF2A435D}" type="pres">
      <dgm:prSet presAssocID="{1D30EDC0-476E-4EE1-98CA-C023C5AA770C}" presName="spaceRect" presStyleCnt="0"/>
      <dgm:spPr/>
    </dgm:pt>
    <dgm:pt modelId="{68EAF5A3-6365-4ABD-9CB5-18DDA6B393CF}" type="pres">
      <dgm:prSet presAssocID="{1D30EDC0-476E-4EE1-98CA-C023C5AA770C}" presName="parTx" presStyleLbl="revTx" presStyleIdx="0" presStyleCnt="2">
        <dgm:presLayoutVars>
          <dgm:chMax val="0"/>
          <dgm:chPref val="0"/>
        </dgm:presLayoutVars>
      </dgm:prSet>
      <dgm:spPr/>
    </dgm:pt>
    <dgm:pt modelId="{DB1B8CCA-1376-42B1-B51B-0804365A066B}" type="pres">
      <dgm:prSet presAssocID="{F9D944ED-7DB9-4A08-97F3-E1961FCB6634}" presName="sibTrans" presStyleCnt="0"/>
      <dgm:spPr/>
    </dgm:pt>
    <dgm:pt modelId="{B77A617B-97C0-4BAF-B915-87E27A02BD98}" type="pres">
      <dgm:prSet presAssocID="{E79954F2-7E52-4485-AB2D-799ED8F2702F}" presName="compNode" presStyleCnt="0"/>
      <dgm:spPr/>
    </dgm:pt>
    <dgm:pt modelId="{FDC2E4C8-677A-4CD0-B0F1-2A3B266D9816}" type="pres">
      <dgm:prSet presAssocID="{E79954F2-7E52-4485-AB2D-799ED8F2702F}" presName="bgRect" presStyleLbl="bgShp" presStyleIdx="1" presStyleCnt="2"/>
      <dgm:spPr/>
    </dgm:pt>
    <dgm:pt modelId="{E0EB05FE-855E-4A47-8017-93BCED8AFCA6}" type="pres">
      <dgm:prSet presAssocID="{E79954F2-7E52-4485-AB2D-799ED8F2702F}" presName="iconRect" presStyleLbl="node1" presStyleIdx="1" presStyleCnt="2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"/>
        </a:ext>
      </dgm:extLst>
    </dgm:pt>
    <dgm:pt modelId="{60337174-037E-4C65-BD86-79B10979A11F}" type="pres">
      <dgm:prSet presAssocID="{E79954F2-7E52-4485-AB2D-799ED8F2702F}" presName="spaceRect" presStyleCnt="0"/>
      <dgm:spPr/>
    </dgm:pt>
    <dgm:pt modelId="{34B9B980-7A5E-4529-8501-EB6165E7F23A}" type="pres">
      <dgm:prSet presAssocID="{E79954F2-7E52-4485-AB2D-799ED8F2702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D16018E-0067-4E74-949C-4CD4378F48BF}" type="presOf" srcId="{40072CCF-8098-4356-A4EE-2DEA205A0469}" destId="{2CAC4975-4847-4189-B175-A6E5F473E2EA}" srcOrd="0" destOrd="0" presId="urn:microsoft.com/office/officeart/2018/2/layout/IconVerticalSolidList"/>
    <dgm:cxn modelId="{39142BA1-CA03-4F0B-AE85-5BDD6A9A16E7}" srcId="{40072CCF-8098-4356-A4EE-2DEA205A0469}" destId="{1D30EDC0-476E-4EE1-98CA-C023C5AA770C}" srcOrd="0" destOrd="0" parTransId="{F902E2A1-F2E4-4FE9-83A0-7F8E3971B32D}" sibTransId="{F9D944ED-7DB9-4A08-97F3-E1961FCB6634}"/>
    <dgm:cxn modelId="{0DC5ACC5-057B-4E78-8CBA-2F997B68B6C3}" type="presOf" srcId="{1D30EDC0-476E-4EE1-98CA-C023C5AA770C}" destId="{68EAF5A3-6365-4ABD-9CB5-18DDA6B393CF}" srcOrd="0" destOrd="0" presId="urn:microsoft.com/office/officeart/2018/2/layout/IconVerticalSolidList"/>
    <dgm:cxn modelId="{1A49EAF2-BA4C-4A80-BD9F-397463B70119}" srcId="{40072CCF-8098-4356-A4EE-2DEA205A0469}" destId="{E79954F2-7E52-4485-AB2D-799ED8F2702F}" srcOrd="1" destOrd="0" parTransId="{44597AF6-3248-4455-BDA6-8F4520A736AC}" sibTransId="{6FDC6663-A0BE-4618-B4F5-79C21734B603}"/>
    <dgm:cxn modelId="{C41B85F5-6215-401D-8ED3-9D2C021FE2E0}" type="presOf" srcId="{E79954F2-7E52-4485-AB2D-799ED8F2702F}" destId="{34B9B980-7A5E-4529-8501-EB6165E7F23A}" srcOrd="0" destOrd="0" presId="urn:microsoft.com/office/officeart/2018/2/layout/IconVerticalSolidList"/>
    <dgm:cxn modelId="{B3B1A581-63C6-48F3-B520-9F5B1C9878CA}" type="presParOf" srcId="{2CAC4975-4847-4189-B175-A6E5F473E2EA}" destId="{480103D4-96E1-40C8-A958-C0FBF70C59E7}" srcOrd="0" destOrd="0" presId="urn:microsoft.com/office/officeart/2018/2/layout/IconVerticalSolidList"/>
    <dgm:cxn modelId="{E10A5ED7-3E58-4EB4-B1FC-9D046DBF93BD}" type="presParOf" srcId="{480103D4-96E1-40C8-A958-C0FBF70C59E7}" destId="{B2247D56-1D2A-4BEC-9F94-317AD143BA4E}" srcOrd="0" destOrd="0" presId="urn:microsoft.com/office/officeart/2018/2/layout/IconVerticalSolidList"/>
    <dgm:cxn modelId="{8E60C75C-C2F7-44F0-BC8C-9F66A3EE494E}" type="presParOf" srcId="{480103D4-96E1-40C8-A958-C0FBF70C59E7}" destId="{A57EBC7A-B1C4-4877-894E-DD9B627303D8}" srcOrd="1" destOrd="0" presId="urn:microsoft.com/office/officeart/2018/2/layout/IconVerticalSolidList"/>
    <dgm:cxn modelId="{040D2BD1-C24B-40D6-9C16-B7B63E439F5C}" type="presParOf" srcId="{480103D4-96E1-40C8-A958-C0FBF70C59E7}" destId="{56D49CFA-FAFB-47D1-8C44-84FEDF2A435D}" srcOrd="2" destOrd="0" presId="urn:microsoft.com/office/officeart/2018/2/layout/IconVerticalSolidList"/>
    <dgm:cxn modelId="{496AC999-42C2-41CF-B263-FE66416DB8B1}" type="presParOf" srcId="{480103D4-96E1-40C8-A958-C0FBF70C59E7}" destId="{68EAF5A3-6365-4ABD-9CB5-18DDA6B393CF}" srcOrd="3" destOrd="0" presId="urn:microsoft.com/office/officeart/2018/2/layout/IconVerticalSolidList"/>
    <dgm:cxn modelId="{C11250F7-DC6F-4201-9880-943E39B0E3B5}" type="presParOf" srcId="{2CAC4975-4847-4189-B175-A6E5F473E2EA}" destId="{DB1B8CCA-1376-42B1-B51B-0804365A066B}" srcOrd="1" destOrd="0" presId="urn:microsoft.com/office/officeart/2018/2/layout/IconVerticalSolidList"/>
    <dgm:cxn modelId="{F34B452B-9CC2-414B-BA43-BA3B815D007D}" type="presParOf" srcId="{2CAC4975-4847-4189-B175-A6E5F473E2EA}" destId="{B77A617B-97C0-4BAF-B915-87E27A02BD98}" srcOrd="2" destOrd="0" presId="urn:microsoft.com/office/officeart/2018/2/layout/IconVerticalSolidList"/>
    <dgm:cxn modelId="{E5CA6076-09CE-4CBE-B5DF-0FA77D5E26E1}" type="presParOf" srcId="{B77A617B-97C0-4BAF-B915-87E27A02BD98}" destId="{FDC2E4C8-677A-4CD0-B0F1-2A3B266D9816}" srcOrd="0" destOrd="0" presId="urn:microsoft.com/office/officeart/2018/2/layout/IconVerticalSolidList"/>
    <dgm:cxn modelId="{E14F8522-202E-431B-86BD-99955A5AE2A1}" type="presParOf" srcId="{B77A617B-97C0-4BAF-B915-87E27A02BD98}" destId="{E0EB05FE-855E-4A47-8017-93BCED8AFCA6}" srcOrd="1" destOrd="0" presId="urn:microsoft.com/office/officeart/2018/2/layout/IconVerticalSolidList"/>
    <dgm:cxn modelId="{7125F4F8-9F60-4901-8370-B7BB89F64487}" type="presParOf" srcId="{B77A617B-97C0-4BAF-B915-87E27A02BD98}" destId="{60337174-037E-4C65-BD86-79B10979A11F}" srcOrd="2" destOrd="0" presId="urn:microsoft.com/office/officeart/2018/2/layout/IconVerticalSolidList"/>
    <dgm:cxn modelId="{9B0AA107-415B-4933-9379-D1FFCF9B8FC7}" type="presParOf" srcId="{B77A617B-97C0-4BAF-B915-87E27A02BD98}" destId="{34B9B980-7A5E-4529-8501-EB6165E7F23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06CF53-0AA1-4B4E-90E0-9F6B4AE8C291}">
      <dsp:nvSpPr>
        <dsp:cNvPr id="0" name=""/>
        <dsp:cNvSpPr/>
      </dsp:nvSpPr>
      <dsp:spPr>
        <a:xfrm>
          <a:off x="2273400" y="102981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832EFE-B27F-4423-AD27-606A61ADD2F4}">
      <dsp:nvSpPr>
        <dsp:cNvPr id="0" name=""/>
        <dsp:cNvSpPr/>
      </dsp:nvSpPr>
      <dsp:spPr>
        <a:xfrm>
          <a:off x="2741400" y="570981"/>
          <a:ext cx="1260000" cy="1260000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394030-FDFD-4551-B88F-0FB4C530E560}">
      <dsp:nvSpPr>
        <dsp:cNvPr id="0" name=""/>
        <dsp:cNvSpPr/>
      </dsp:nvSpPr>
      <dsp:spPr>
        <a:xfrm>
          <a:off x="1571400" y="2982981"/>
          <a:ext cx="3600000" cy="144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400" kern="1200" dirty="0"/>
            <a:t>Wealth (n) “the annual produce of the land and labour of society”  Adam Smith, 1776</a:t>
          </a:r>
          <a:endParaRPr lang="en-US" sz="1400" kern="1200" dirty="0"/>
        </a:p>
      </dsp:txBody>
      <dsp:txXfrm>
        <a:off x="1571400" y="2982981"/>
        <a:ext cx="3600000" cy="1440000"/>
      </dsp:txXfrm>
    </dsp:sp>
    <dsp:sp modelId="{103B2C66-FEFF-44E1-94CB-4C570D4FC14E}">
      <dsp:nvSpPr>
        <dsp:cNvPr id="0" name=""/>
        <dsp:cNvSpPr/>
      </dsp:nvSpPr>
      <dsp:spPr>
        <a:xfrm>
          <a:off x="6503400" y="102981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B1CAFB-C57D-4B3D-A268-20327C3EFDE7}">
      <dsp:nvSpPr>
        <dsp:cNvPr id="0" name=""/>
        <dsp:cNvSpPr/>
      </dsp:nvSpPr>
      <dsp:spPr>
        <a:xfrm>
          <a:off x="6971400" y="570981"/>
          <a:ext cx="1260000" cy="1260000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3DAA5F-33E4-49DF-B460-C0D95D66573D}">
      <dsp:nvSpPr>
        <dsp:cNvPr id="0" name=""/>
        <dsp:cNvSpPr/>
      </dsp:nvSpPr>
      <dsp:spPr>
        <a:xfrm>
          <a:off x="5801400" y="2982981"/>
          <a:ext cx="3600000" cy="144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400" kern="1200" dirty="0"/>
            <a:t>Wealth creation:  combining materials, ideas, labour, technology so that the output can be sold for more than costs.  This profit brings wealth to the people and society involved in production.</a:t>
          </a:r>
          <a:endParaRPr lang="en-US" sz="1400" kern="1200" dirty="0"/>
        </a:p>
      </dsp:txBody>
      <dsp:txXfrm>
        <a:off x="5801400" y="2982981"/>
        <a:ext cx="3600000" cy="144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58DAF3-2DEE-4F29-903B-707C57997389}">
      <dsp:nvSpPr>
        <dsp:cNvPr id="0" name=""/>
        <dsp:cNvSpPr/>
      </dsp:nvSpPr>
      <dsp:spPr>
        <a:xfrm>
          <a:off x="0" y="1878"/>
          <a:ext cx="109728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D17F4E-C82F-45DB-91DC-2463F2886650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232972-1855-47CF-A800-A500FDE4E3C3}">
      <dsp:nvSpPr>
        <dsp:cNvPr id="0" name=""/>
        <dsp:cNvSpPr/>
      </dsp:nvSpPr>
      <dsp:spPr>
        <a:xfrm>
          <a:off x="1099610" y="1878"/>
          <a:ext cx="98731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/>
            <a:t>Combination of inputs</a:t>
          </a:r>
          <a:endParaRPr lang="en-US" sz="2200" kern="1200"/>
        </a:p>
      </dsp:txBody>
      <dsp:txXfrm>
        <a:off x="1099610" y="1878"/>
        <a:ext cx="9873189" cy="952043"/>
      </dsp:txXfrm>
    </dsp:sp>
    <dsp:sp modelId="{397B7844-1E12-4D07-8568-0DAA952668BC}">
      <dsp:nvSpPr>
        <dsp:cNvPr id="0" name=""/>
        <dsp:cNvSpPr/>
      </dsp:nvSpPr>
      <dsp:spPr>
        <a:xfrm>
          <a:off x="0" y="1191932"/>
          <a:ext cx="109728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340838-FC45-42C8-8A51-804F0FCE0818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5FE72E-1895-46FD-9C93-D677AE5892B2}">
      <dsp:nvSpPr>
        <dsp:cNvPr id="0" name=""/>
        <dsp:cNvSpPr/>
      </dsp:nvSpPr>
      <dsp:spPr>
        <a:xfrm>
          <a:off x="1099610" y="1191932"/>
          <a:ext cx="98731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/>
            <a:t>Supportive environment</a:t>
          </a:r>
          <a:endParaRPr lang="en-US" sz="2200" kern="1200"/>
        </a:p>
      </dsp:txBody>
      <dsp:txXfrm>
        <a:off x="1099610" y="1191932"/>
        <a:ext cx="9873189" cy="952043"/>
      </dsp:txXfrm>
    </dsp:sp>
    <dsp:sp modelId="{7AD29496-DF09-4601-9815-A63C61AB300A}">
      <dsp:nvSpPr>
        <dsp:cNvPr id="0" name=""/>
        <dsp:cNvSpPr/>
      </dsp:nvSpPr>
      <dsp:spPr>
        <a:xfrm>
          <a:off x="0" y="2381986"/>
          <a:ext cx="109728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8BDDA8-DCF9-450B-9E4E-CDEC25B05D95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C3A86-343B-4495-BFFE-92CEB46077F9}">
      <dsp:nvSpPr>
        <dsp:cNvPr id="0" name=""/>
        <dsp:cNvSpPr/>
      </dsp:nvSpPr>
      <dsp:spPr>
        <a:xfrm>
          <a:off x="1099610" y="2381986"/>
          <a:ext cx="98731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/>
            <a:t>Means of production</a:t>
          </a:r>
          <a:endParaRPr lang="en-US" sz="2200" kern="1200"/>
        </a:p>
      </dsp:txBody>
      <dsp:txXfrm>
        <a:off x="1099610" y="2381986"/>
        <a:ext cx="9873189" cy="952043"/>
      </dsp:txXfrm>
    </dsp:sp>
    <dsp:sp modelId="{2744CC8E-6E0B-4E3F-913F-F3DA3B4FFB26}">
      <dsp:nvSpPr>
        <dsp:cNvPr id="0" name=""/>
        <dsp:cNvSpPr/>
      </dsp:nvSpPr>
      <dsp:spPr>
        <a:xfrm>
          <a:off x="0" y="3572041"/>
          <a:ext cx="109728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80077C-640C-4004-93F3-CBECAB75BCE7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F95217-1723-4E03-BCFF-C770A84D5659}">
      <dsp:nvSpPr>
        <dsp:cNvPr id="0" name=""/>
        <dsp:cNvSpPr/>
      </dsp:nvSpPr>
      <dsp:spPr>
        <a:xfrm>
          <a:off x="1099610" y="3572041"/>
          <a:ext cx="98731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/>
            <a:t>Someone who will pay more than costs</a:t>
          </a:r>
          <a:endParaRPr lang="en-US" sz="2200" kern="1200"/>
        </a:p>
      </dsp:txBody>
      <dsp:txXfrm>
        <a:off x="1099610" y="3572041"/>
        <a:ext cx="9873189" cy="9520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31F454-6A5D-46D3-86F4-87ED63A6831F}">
      <dsp:nvSpPr>
        <dsp:cNvPr id="0" name=""/>
        <dsp:cNvSpPr/>
      </dsp:nvSpPr>
      <dsp:spPr>
        <a:xfrm>
          <a:off x="0" y="379040"/>
          <a:ext cx="5688632" cy="9599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1501" tIns="479044" rIns="441501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 </a:t>
          </a:r>
        </a:p>
      </dsp:txBody>
      <dsp:txXfrm>
        <a:off x="0" y="379040"/>
        <a:ext cx="5688632" cy="959962"/>
      </dsp:txXfrm>
    </dsp:sp>
    <dsp:sp modelId="{68F09E27-5CAE-45FE-A3F1-82A2892E0121}">
      <dsp:nvSpPr>
        <dsp:cNvPr id="0" name=""/>
        <dsp:cNvSpPr/>
      </dsp:nvSpPr>
      <dsp:spPr>
        <a:xfrm>
          <a:off x="284431" y="39560"/>
          <a:ext cx="3982042" cy="678960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512" tIns="0" rIns="150512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Sole Proprietorships</a:t>
          </a:r>
        </a:p>
      </dsp:txBody>
      <dsp:txXfrm>
        <a:off x="317575" y="72704"/>
        <a:ext cx="3915754" cy="612672"/>
      </dsp:txXfrm>
    </dsp:sp>
    <dsp:sp modelId="{1A50D50E-78FE-4EDE-BBFB-6C40A8F11943}">
      <dsp:nvSpPr>
        <dsp:cNvPr id="0" name=""/>
        <dsp:cNvSpPr/>
      </dsp:nvSpPr>
      <dsp:spPr>
        <a:xfrm>
          <a:off x="0" y="1802683"/>
          <a:ext cx="5688632" cy="9599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1501" tIns="479044" rIns="441501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 </a:t>
          </a:r>
        </a:p>
      </dsp:txBody>
      <dsp:txXfrm>
        <a:off x="0" y="1802683"/>
        <a:ext cx="5688632" cy="959962"/>
      </dsp:txXfrm>
    </dsp:sp>
    <dsp:sp modelId="{417F7706-15BA-444C-8B59-B23114F27EFB}">
      <dsp:nvSpPr>
        <dsp:cNvPr id="0" name=""/>
        <dsp:cNvSpPr/>
      </dsp:nvSpPr>
      <dsp:spPr>
        <a:xfrm>
          <a:off x="284431" y="1463203"/>
          <a:ext cx="3982042" cy="678960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512" tIns="0" rIns="150512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Partnerships</a:t>
          </a:r>
        </a:p>
      </dsp:txBody>
      <dsp:txXfrm>
        <a:off x="317575" y="1496347"/>
        <a:ext cx="3915754" cy="612672"/>
      </dsp:txXfrm>
    </dsp:sp>
    <dsp:sp modelId="{8A97202C-4C08-4335-B899-6057E89EB386}">
      <dsp:nvSpPr>
        <dsp:cNvPr id="0" name=""/>
        <dsp:cNvSpPr/>
      </dsp:nvSpPr>
      <dsp:spPr>
        <a:xfrm>
          <a:off x="0" y="3226326"/>
          <a:ext cx="5688632" cy="9599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1501" tIns="479044" rIns="441501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 </a:t>
          </a:r>
        </a:p>
      </dsp:txBody>
      <dsp:txXfrm>
        <a:off x="0" y="3226326"/>
        <a:ext cx="5688632" cy="959962"/>
      </dsp:txXfrm>
    </dsp:sp>
    <dsp:sp modelId="{4B70CF65-724E-4012-ADB0-95E9988371F9}">
      <dsp:nvSpPr>
        <dsp:cNvPr id="0" name=""/>
        <dsp:cNvSpPr/>
      </dsp:nvSpPr>
      <dsp:spPr>
        <a:xfrm>
          <a:off x="284431" y="2886846"/>
          <a:ext cx="3982042" cy="678960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512" tIns="0" rIns="150512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Corporations</a:t>
          </a:r>
        </a:p>
      </dsp:txBody>
      <dsp:txXfrm>
        <a:off x="317575" y="2919990"/>
        <a:ext cx="3915754" cy="612672"/>
      </dsp:txXfrm>
    </dsp:sp>
    <dsp:sp modelId="{FD5DD3EB-200D-4C5D-BB8B-558A2008FF9C}">
      <dsp:nvSpPr>
        <dsp:cNvPr id="0" name=""/>
        <dsp:cNvSpPr/>
      </dsp:nvSpPr>
      <dsp:spPr>
        <a:xfrm>
          <a:off x="0" y="4649968"/>
          <a:ext cx="5688632" cy="9599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1501" tIns="479044" rIns="441501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 </a:t>
          </a:r>
        </a:p>
      </dsp:txBody>
      <dsp:txXfrm>
        <a:off x="0" y="4649968"/>
        <a:ext cx="5688632" cy="959962"/>
      </dsp:txXfrm>
    </dsp:sp>
    <dsp:sp modelId="{38183EEB-153E-4233-8DCF-716978AAFA68}">
      <dsp:nvSpPr>
        <dsp:cNvPr id="0" name=""/>
        <dsp:cNvSpPr/>
      </dsp:nvSpPr>
      <dsp:spPr>
        <a:xfrm>
          <a:off x="284431" y="4310488"/>
          <a:ext cx="3982042" cy="678960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512" tIns="0" rIns="150512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Not-for-Profit Corporations</a:t>
          </a:r>
        </a:p>
      </dsp:txBody>
      <dsp:txXfrm>
        <a:off x="317575" y="4343632"/>
        <a:ext cx="3915754" cy="6126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C03333-F5EA-4966-810F-2F47BDCE65CC}">
      <dsp:nvSpPr>
        <dsp:cNvPr id="0" name=""/>
        <dsp:cNvSpPr/>
      </dsp:nvSpPr>
      <dsp:spPr>
        <a:xfrm>
          <a:off x="429418" y="0"/>
          <a:ext cx="4525963" cy="4525963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FE4DF17-5A16-4899-B924-655954349C8E}">
      <dsp:nvSpPr>
        <dsp:cNvPr id="0" name=""/>
        <dsp:cNvSpPr/>
      </dsp:nvSpPr>
      <dsp:spPr>
        <a:xfrm>
          <a:off x="723606" y="294187"/>
          <a:ext cx="1810385" cy="181038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Sole Proprietorships</a:t>
          </a:r>
        </a:p>
      </dsp:txBody>
      <dsp:txXfrm>
        <a:off x="811982" y="382563"/>
        <a:ext cx="1633633" cy="1633633"/>
      </dsp:txXfrm>
    </dsp:sp>
    <dsp:sp modelId="{CA7DE765-63F1-43C5-8797-4540923D5C3B}">
      <dsp:nvSpPr>
        <dsp:cNvPr id="0" name=""/>
        <dsp:cNvSpPr/>
      </dsp:nvSpPr>
      <dsp:spPr>
        <a:xfrm>
          <a:off x="2850808" y="294187"/>
          <a:ext cx="1810385" cy="181038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Partnerships</a:t>
          </a:r>
        </a:p>
      </dsp:txBody>
      <dsp:txXfrm>
        <a:off x="2939184" y="382563"/>
        <a:ext cx="1633633" cy="1633633"/>
      </dsp:txXfrm>
    </dsp:sp>
    <dsp:sp modelId="{3CE3E32E-5C87-4908-8B1E-6C1D7D1A6A36}">
      <dsp:nvSpPr>
        <dsp:cNvPr id="0" name=""/>
        <dsp:cNvSpPr/>
      </dsp:nvSpPr>
      <dsp:spPr>
        <a:xfrm>
          <a:off x="723606" y="2421390"/>
          <a:ext cx="1810385" cy="181038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Corporations</a:t>
          </a:r>
        </a:p>
      </dsp:txBody>
      <dsp:txXfrm>
        <a:off x="811982" y="2509766"/>
        <a:ext cx="1633633" cy="1633633"/>
      </dsp:txXfrm>
    </dsp:sp>
    <dsp:sp modelId="{6586F8EE-C7DF-442B-B568-DD4692F5D37E}">
      <dsp:nvSpPr>
        <dsp:cNvPr id="0" name=""/>
        <dsp:cNvSpPr/>
      </dsp:nvSpPr>
      <dsp:spPr>
        <a:xfrm>
          <a:off x="2850808" y="2421390"/>
          <a:ext cx="1810385" cy="181038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Not-for-Profit Corporations</a:t>
          </a:r>
        </a:p>
      </dsp:txBody>
      <dsp:txXfrm>
        <a:off x="2939184" y="2509766"/>
        <a:ext cx="1633633" cy="16336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4A5393-4468-4DC7-BE59-423743912D2E}">
      <dsp:nvSpPr>
        <dsp:cNvPr id="0" name=""/>
        <dsp:cNvSpPr/>
      </dsp:nvSpPr>
      <dsp:spPr>
        <a:xfrm>
          <a:off x="0" y="3535"/>
          <a:ext cx="10972800" cy="7531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8CDC58-CDAC-4913-ACE8-6D9676EA9A70}">
      <dsp:nvSpPr>
        <dsp:cNvPr id="0" name=""/>
        <dsp:cNvSpPr/>
      </dsp:nvSpPr>
      <dsp:spPr>
        <a:xfrm>
          <a:off x="227827" y="172994"/>
          <a:ext cx="414231" cy="414231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023DB8-091A-4BF8-9DD0-F37F051D5BFA}">
      <dsp:nvSpPr>
        <dsp:cNvPr id="0" name=""/>
        <dsp:cNvSpPr/>
      </dsp:nvSpPr>
      <dsp:spPr>
        <a:xfrm>
          <a:off x="869886" y="3535"/>
          <a:ext cx="101029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Franchising agreements exist between franchisee and franchisor</a:t>
          </a:r>
        </a:p>
      </dsp:txBody>
      <dsp:txXfrm>
        <a:off x="869886" y="3535"/>
        <a:ext cx="10102913" cy="753148"/>
      </dsp:txXfrm>
    </dsp:sp>
    <dsp:sp modelId="{88DD7A30-5340-4BC1-AABF-7187CF71AB5C}">
      <dsp:nvSpPr>
        <dsp:cNvPr id="0" name=""/>
        <dsp:cNvSpPr/>
      </dsp:nvSpPr>
      <dsp:spPr>
        <a:xfrm>
          <a:off x="0" y="944971"/>
          <a:ext cx="10972800" cy="7531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96517F-B115-41BE-9C4C-068B6EF792BB}">
      <dsp:nvSpPr>
        <dsp:cNvPr id="0" name=""/>
        <dsp:cNvSpPr/>
      </dsp:nvSpPr>
      <dsp:spPr>
        <a:xfrm>
          <a:off x="227827" y="1114429"/>
          <a:ext cx="414231" cy="414231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14E01C-A971-4829-B7B6-541E41FC5C94}">
      <dsp:nvSpPr>
        <dsp:cNvPr id="0" name=""/>
        <dsp:cNvSpPr/>
      </dsp:nvSpPr>
      <dsp:spPr>
        <a:xfrm>
          <a:off x="869886" y="944971"/>
          <a:ext cx="101029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Canada has 76,000 individual franchise businesses operating under 900 different brand names</a:t>
          </a:r>
        </a:p>
      </dsp:txBody>
      <dsp:txXfrm>
        <a:off x="869886" y="944971"/>
        <a:ext cx="10102913" cy="753148"/>
      </dsp:txXfrm>
    </dsp:sp>
    <dsp:sp modelId="{E44828CD-BD4D-4026-9FE0-A75ED022575B}">
      <dsp:nvSpPr>
        <dsp:cNvPr id="0" name=""/>
        <dsp:cNvSpPr/>
      </dsp:nvSpPr>
      <dsp:spPr>
        <a:xfrm>
          <a:off x="0" y="1886407"/>
          <a:ext cx="10972800" cy="7531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B8E6B0-BD07-4432-B08A-407893DD4F04}">
      <dsp:nvSpPr>
        <dsp:cNvPr id="0" name=""/>
        <dsp:cNvSpPr/>
      </dsp:nvSpPr>
      <dsp:spPr>
        <a:xfrm>
          <a:off x="227827" y="2055865"/>
          <a:ext cx="414231" cy="414231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08599A-4E9A-48FD-B584-F670DC72D4BF}">
      <dsp:nvSpPr>
        <dsp:cNvPr id="0" name=""/>
        <dsp:cNvSpPr/>
      </dsp:nvSpPr>
      <dsp:spPr>
        <a:xfrm>
          <a:off x="869886" y="1886407"/>
          <a:ext cx="101029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These franchises employ more than one million Canadians</a:t>
          </a:r>
        </a:p>
      </dsp:txBody>
      <dsp:txXfrm>
        <a:off x="869886" y="1886407"/>
        <a:ext cx="10102913" cy="753148"/>
      </dsp:txXfrm>
    </dsp:sp>
    <dsp:sp modelId="{9546D490-13C5-4641-86E1-78C35EA232AF}">
      <dsp:nvSpPr>
        <dsp:cNvPr id="0" name=""/>
        <dsp:cNvSpPr/>
      </dsp:nvSpPr>
      <dsp:spPr>
        <a:xfrm>
          <a:off x="0" y="2827842"/>
          <a:ext cx="10972800" cy="7531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7000B7-4949-4F19-B3F1-43597396C2BD}">
      <dsp:nvSpPr>
        <dsp:cNvPr id="0" name=""/>
        <dsp:cNvSpPr/>
      </dsp:nvSpPr>
      <dsp:spPr>
        <a:xfrm>
          <a:off x="227827" y="2997301"/>
          <a:ext cx="414231" cy="414231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6EC6EB-608B-4D68-A784-D9E1DCA2E16B}">
      <dsp:nvSpPr>
        <dsp:cNvPr id="0" name=""/>
        <dsp:cNvSpPr/>
      </dsp:nvSpPr>
      <dsp:spPr>
        <a:xfrm>
          <a:off x="869886" y="2827842"/>
          <a:ext cx="101029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More than $100 billion in sales each year</a:t>
          </a:r>
        </a:p>
      </dsp:txBody>
      <dsp:txXfrm>
        <a:off x="869886" y="2827842"/>
        <a:ext cx="10102913" cy="753148"/>
      </dsp:txXfrm>
    </dsp:sp>
    <dsp:sp modelId="{F4887797-F4EB-4938-8F9A-86068DBBF3B2}">
      <dsp:nvSpPr>
        <dsp:cNvPr id="0" name=""/>
        <dsp:cNvSpPr/>
      </dsp:nvSpPr>
      <dsp:spPr>
        <a:xfrm>
          <a:off x="0" y="3769278"/>
          <a:ext cx="10972800" cy="75314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D81370-FE77-401A-B237-C8C2499244E8}">
      <dsp:nvSpPr>
        <dsp:cNvPr id="0" name=""/>
        <dsp:cNvSpPr/>
      </dsp:nvSpPr>
      <dsp:spPr>
        <a:xfrm>
          <a:off x="227827" y="3938736"/>
          <a:ext cx="414231" cy="414231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DE74E-76B0-4526-A4E3-24B6C64BAFC8}">
      <dsp:nvSpPr>
        <dsp:cNvPr id="0" name=""/>
        <dsp:cNvSpPr/>
      </dsp:nvSpPr>
      <dsp:spPr>
        <a:xfrm>
          <a:off x="869886" y="3769278"/>
          <a:ext cx="101029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Franchising overseas is a growing</a:t>
          </a:r>
        </a:p>
      </dsp:txBody>
      <dsp:txXfrm>
        <a:off x="869886" y="3769278"/>
        <a:ext cx="10102913" cy="7531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9D2C47-CF38-4020-82EB-6FF7A815312A}">
      <dsp:nvSpPr>
        <dsp:cNvPr id="0" name=""/>
        <dsp:cNvSpPr/>
      </dsp:nvSpPr>
      <dsp:spPr>
        <a:xfrm>
          <a:off x="0" y="552"/>
          <a:ext cx="10972800" cy="129281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16EBEF-C118-4D1E-AD2F-B2ADC237D7E9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3BEF75-2083-437E-A053-F6578DBF47F0}">
      <dsp:nvSpPr>
        <dsp:cNvPr id="0" name=""/>
        <dsp:cNvSpPr/>
      </dsp:nvSpPr>
      <dsp:spPr>
        <a:xfrm>
          <a:off x="1493203" y="552"/>
          <a:ext cx="94795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Approximately 4% of small businesses close after one year</a:t>
          </a:r>
        </a:p>
      </dsp:txBody>
      <dsp:txXfrm>
        <a:off x="1493203" y="552"/>
        <a:ext cx="9479596" cy="1292816"/>
      </dsp:txXfrm>
    </dsp:sp>
    <dsp:sp modelId="{C79D04AB-E731-43EE-983E-83C0BB976994}">
      <dsp:nvSpPr>
        <dsp:cNvPr id="0" name=""/>
        <dsp:cNvSpPr/>
      </dsp:nvSpPr>
      <dsp:spPr>
        <a:xfrm>
          <a:off x="0" y="1616573"/>
          <a:ext cx="10972800" cy="129281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A96C42-2018-4EB4-81A6-380DB9669B66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52E0C9-7C25-4821-971F-CE9DF1A1B535}">
      <dsp:nvSpPr>
        <dsp:cNvPr id="0" name=""/>
        <dsp:cNvSpPr/>
      </dsp:nvSpPr>
      <dsp:spPr>
        <a:xfrm>
          <a:off x="1493203" y="1616573"/>
          <a:ext cx="94795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Approximately 15% of small businesses close permanently within three years</a:t>
          </a:r>
        </a:p>
      </dsp:txBody>
      <dsp:txXfrm>
        <a:off x="1493203" y="1616573"/>
        <a:ext cx="9479596" cy="1292816"/>
      </dsp:txXfrm>
    </dsp:sp>
    <dsp:sp modelId="{A800E47F-863A-4FEB-8A2C-80DCA05C6BDD}">
      <dsp:nvSpPr>
        <dsp:cNvPr id="0" name=""/>
        <dsp:cNvSpPr/>
      </dsp:nvSpPr>
      <dsp:spPr>
        <a:xfrm>
          <a:off x="0" y="3232593"/>
          <a:ext cx="10972800" cy="129281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691866-0120-41C3-8249-AF9D3FFBF182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C9D425-C3F6-47A6-BF3F-7F634F951ABF}">
      <dsp:nvSpPr>
        <dsp:cNvPr id="0" name=""/>
        <dsp:cNvSpPr/>
      </dsp:nvSpPr>
      <dsp:spPr>
        <a:xfrm>
          <a:off x="1493203" y="3232593"/>
          <a:ext cx="94795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Approximately 30% of small businesses fail within five years</a:t>
          </a:r>
        </a:p>
      </dsp:txBody>
      <dsp:txXfrm>
        <a:off x="1493203" y="3232593"/>
        <a:ext cx="9479596" cy="129281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2588F3-B913-450C-B80B-6953FF0B4010}">
      <dsp:nvSpPr>
        <dsp:cNvPr id="0" name=""/>
        <dsp:cNvSpPr/>
      </dsp:nvSpPr>
      <dsp:spPr>
        <a:xfrm>
          <a:off x="0" y="2731658"/>
          <a:ext cx="5384800" cy="17922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Small businesses account for approximately two-thirds of the employment in five Canadian industries: non-institutional health care, construction, accommodation and food, forestry, and other services</a:t>
          </a:r>
        </a:p>
      </dsp:txBody>
      <dsp:txXfrm>
        <a:off x="0" y="2731658"/>
        <a:ext cx="5384800" cy="1792263"/>
      </dsp:txXfrm>
    </dsp:sp>
    <dsp:sp modelId="{AF828C8E-8E71-40F2-93F5-AAD8095E0D3E}">
      <dsp:nvSpPr>
        <dsp:cNvPr id="0" name=""/>
        <dsp:cNvSpPr/>
      </dsp:nvSpPr>
      <dsp:spPr>
        <a:xfrm rot="10800000">
          <a:off x="0" y="2040"/>
          <a:ext cx="5384800" cy="2756501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Industry Canada defines a small business as an “independent business with fewer than 100 employees and revenues less than $2 million”</a:t>
          </a:r>
        </a:p>
      </dsp:txBody>
      <dsp:txXfrm rot="10800000">
        <a:off x="0" y="2040"/>
        <a:ext cx="5384800" cy="179109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247D56-1D2A-4BEC-9F94-317AD143BA4E}">
      <dsp:nvSpPr>
        <dsp:cNvPr id="0" name=""/>
        <dsp:cNvSpPr/>
      </dsp:nvSpPr>
      <dsp:spPr>
        <a:xfrm>
          <a:off x="0" y="735468"/>
          <a:ext cx="10972800" cy="13577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7EBC7A-B1C4-4877-894E-DD9B627303D8}">
      <dsp:nvSpPr>
        <dsp:cNvPr id="0" name=""/>
        <dsp:cNvSpPr/>
      </dsp:nvSpPr>
      <dsp:spPr>
        <a:xfrm>
          <a:off x="410731" y="1040971"/>
          <a:ext cx="746783" cy="746783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EAF5A3-6365-4ABD-9CB5-18DDA6B393CF}">
      <dsp:nvSpPr>
        <dsp:cNvPr id="0" name=""/>
        <dsp:cNvSpPr/>
      </dsp:nvSpPr>
      <dsp:spPr>
        <a:xfrm>
          <a:off x="1568246" y="735468"/>
          <a:ext cx="94045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 government unit or agency owns and operates an organization</a:t>
          </a:r>
        </a:p>
      </dsp:txBody>
      <dsp:txXfrm>
        <a:off x="1568246" y="735468"/>
        <a:ext cx="9404553" cy="1357788"/>
      </dsp:txXfrm>
    </dsp:sp>
    <dsp:sp modelId="{FDC2E4C8-677A-4CD0-B0F1-2A3B266D9816}">
      <dsp:nvSpPr>
        <dsp:cNvPr id="0" name=""/>
        <dsp:cNvSpPr/>
      </dsp:nvSpPr>
      <dsp:spPr>
        <a:xfrm>
          <a:off x="0" y="2432705"/>
          <a:ext cx="10972800" cy="13577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EB05FE-855E-4A47-8017-93BCED8AFCA6}">
      <dsp:nvSpPr>
        <dsp:cNvPr id="0" name=""/>
        <dsp:cNvSpPr/>
      </dsp:nvSpPr>
      <dsp:spPr>
        <a:xfrm>
          <a:off x="410731" y="2738207"/>
          <a:ext cx="746783" cy="746783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B9B980-7A5E-4529-8501-EB6165E7F23A}">
      <dsp:nvSpPr>
        <dsp:cNvPr id="0" name=""/>
        <dsp:cNvSpPr/>
      </dsp:nvSpPr>
      <dsp:spPr>
        <a:xfrm>
          <a:off x="1568246" y="2432705"/>
          <a:ext cx="94045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Examples: Manitoba Hydro, Toronto Transit Commission (TTC)</a:t>
          </a:r>
        </a:p>
      </dsp:txBody>
      <dsp:txXfrm>
        <a:off x="1568246" y="2432705"/>
        <a:ext cx="9404553" cy="13577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79375"/>
            <a:ext cx="7010400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9" rIns="93136" bIns="46569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Book Antiqua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40816"/>
            <a:ext cx="6891338" cy="25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9" rIns="93136" bIns="46569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800">
                <a:latin typeface="Book Antiqua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2" name="Picture 8" descr="Rotman U of T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650" y="8855078"/>
            <a:ext cx="1592263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9" rIns="93136" bIns="4656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41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9" rIns="93136" bIns="4656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7038" y="0"/>
            <a:ext cx="61960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6038" y="3551241"/>
            <a:ext cx="6962775" cy="548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9" rIns="93136" bIns="46569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9" rIns="93136" bIns="4656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41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9" rIns="93136" bIns="4656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15938E9-3CF5-4342-8AA5-D6C8328A45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342900" indent="-342900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buChar char="•"/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800100" indent="-342900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buChar char="•"/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1257300" indent="-342900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buChar char="•"/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714500" indent="-342900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buChar char="•"/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2171700" indent="-342900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buChar char="•"/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9834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7329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4627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27038" y="0"/>
            <a:ext cx="6196012" cy="3486150"/>
          </a:xfrm>
          <a:ln/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dirty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320" indent="-29038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127" indent="-23167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29647" indent="-23167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4579" indent="-23167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1578" indent="-2316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8577" indent="-2316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5576" indent="-2316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2575" indent="-2316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F3DC28-4464-439B-9AB1-83069AB6F3D4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27038" y="0"/>
            <a:ext cx="6196012" cy="3486150"/>
          </a:xfrm>
          <a:ln/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320" indent="-29038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127" indent="-23167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29647" indent="-23167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4579" indent="-23167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1578" indent="-2316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8577" indent="-2316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5576" indent="-2316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2575" indent="-2316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33BB563-F64E-41DC-9B59-CA378F51A6D3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7579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7038" y="0"/>
            <a:ext cx="6196012" cy="348615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0866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666875" y="0"/>
            <a:ext cx="3676650" cy="2068513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46038" y="2068942"/>
            <a:ext cx="6962775" cy="6971874"/>
          </a:xfrm>
        </p:spPr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6687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7038" y="0"/>
            <a:ext cx="6196012" cy="348615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06465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7038" y="0"/>
            <a:ext cx="6196012" cy="348615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04315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7038" y="0"/>
            <a:ext cx="6196012" cy="348615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426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7038" y="0"/>
            <a:ext cx="6196012" cy="348615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97872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30588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99578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07988" y="0"/>
            <a:ext cx="3025775" cy="17018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46038" y="1839889"/>
            <a:ext cx="6962775" cy="7200928"/>
          </a:xfrm>
        </p:spPr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3998">
              <a:defRPr/>
            </a:pPr>
            <a:fld id="{C15938E9-3CF5-4342-8AA5-D6C8328A4531}" type="slidenum">
              <a:rPr lang="en-US" altLang="en-US">
                <a:solidFill>
                  <a:srgbClr val="000000"/>
                </a:solidFill>
              </a:rPr>
              <a:pPr defTabSz="913998">
                <a:defRPr/>
              </a:pPr>
              <a:t>15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3827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7038" y="0"/>
            <a:ext cx="6196012" cy="348615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3675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7038" y="0"/>
            <a:ext cx="6196012" cy="348615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24876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7038" y="0"/>
            <a:ext cx="6196012" cy="348615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61656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7038" y="0"/>
            <a:ext cx="6196012" cy="348615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08907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27038" y="0"/>
            <a:ext cx="6196012" cy="3486150"/>
          </a:xfrm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dirty="0">
              <a:latin typeface="Arial" panose="020B0604020202020204" pitchFamily="34" charset="0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623" indent="-285624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2498" indent="-228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9497" indent="-228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6497" indent="-228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3496" indent="-228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0494" indent="-228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7493" indent="-228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4492" indent="-228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61B3E6-9EAD-4ABA-86CB-98B9968472AF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451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7038" y="0"/>
            <a:ext cx="6196012" cy="348615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75834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7038" y="0"/>
            <a:ext cx="6196012" cy="348615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67985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58931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08844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36924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07069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45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320" indent="-290385" defTabSz="93145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127" indent="-231673" defTabSz="93145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29647" indent="-231673" defTabSz="93145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4579" indent="-231673" defTabSz="93145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1578" indent="-231673" defTabSz="9314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8577" indent="-231673" defTabSz="9314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5576" indent="-231673" defTabSz="9314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2575" indent="-231673" defTabSz="9314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6824F6-75DA-402F-974F-D452C867D3A2}" type="slidenum">
              <a:rPr lang="en-US" altLang="en-US" smtClean="0"/>
              <a:pPr/>
              <a:t>28</a:t>
            </a:fld>
            <a:endParaRPr lang="en-US" alt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0"/>
            <a:ext cx="6196012" cy="348615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>
            <a:normAutofit/>
          </a:bodyPr>
          <a:lstStyle/>
          <a:p>
            <a:pPr eaLnBrk="1" hangingPunct="1">
              <a:defRPr/>
            </a:pPr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91936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F8A8E-3D66-5A4F-901A-6A8656470D3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4364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F8A8E-3D66-5A4F-901A-6A8656470D3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531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571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25669" y="3326524"/>
            <a:ext cx="6148552" cy="4106917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F8A8E-3D66-5A4F-901A-6A8656470D3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4893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F8A8E-3D66-5A4F-901A-6A8656470D3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515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3990647"/>
            <a:ext cx="5486400" cy="360045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F8A8E-3D66-5A4F-901A-6A8656470D3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472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F8A8E-3D66-5A4F-901A-6A8656470D3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724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F8A8E-3D66-5A4F-901A-6A8656470D3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611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27038" y="0"/>
            <a:ext cx="6196012" cy="3486150"/>
          </a:xfrm>
          <a:ln/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dirty="0">
              <a:latin typeface="Arial" panose="020B0604020202020204" pitchFamily="34" charset="0"/>
            </a:endParaRPr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623" indent="-285624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2498" indent="-228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9497" indent="-228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6497" indent="-228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3496" indent="-228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0494" indent="-228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7493" indent="-228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4492" indent="-228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2743F37-B658-41D9-AB86-04DA0CDCC594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27038" y="0"/>
            <a:ext cx="6196012" cy="3486150"/>
          </a:xfrm>
          <a:ln/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dirty="0">
              <a:latin typeface="Arial" panose="020B0604020202020204" pitchFamily="34" charset="0"/>
            </a:endParaRPr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623" indent="-285624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2498" indent="-228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9497" indent="-228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6497" indent="-228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3496" indent="-228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0494" indent="-228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7493" indent="-228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4492" indent="-228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3998">
              <a:defRPr/>
            </a:pPr>
            <a:fld id="{62743F37-B658-41D9-AB86-04DA0CDCC594}" type="slidenum">
              <a:rPr lang="en-US" altLang="en-US">
                <a:solidFill>
                  <a:srgbClr val="000000"/>
                </a:solidFill>
              </a:rPr>
              <a:pPr defTabSz="913998">
                <a:defRPr/>
              </a:pPr>
              <a:t>38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0139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7038" y="0"/>
            <a:ext cx="6196012" cy="348615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81518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7038" y="0"/>
            <a:ext cx="6196012" cy="348615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46465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7038" y="0"/>
            <a:ext cx="6196012" cy="348615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724499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7038" y="0"/>
            <a:ext cx="6196012" cy="348615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57682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7038" y="0"/>
            <a:ext cx="6196012" cy="348615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61128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7038" y="0"/>
            <a:ext cx="6196012" cy="348615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82344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27038" y="0"/>
            <a:ext cx="6196012" cy="3486150"/>
          </a:xfrm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dirty="0">
              <a:latin typeface="Arial" panose="020B0604020202020204" pitchFamily="34" charset="0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320" indent="-29038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3127" indent="-23167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29647" indent="-23167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4579" indent="-23167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1578" indent="-2316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8577" indent="-2316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5576" indent="-2316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2575" indent="-23167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9992E72-ED57-42BB-8168-1C80E33FD86E}" type="slidenum">
              <a:rPr lang="en-US" altLang="en-US" smtClean="0"/>
              <a:pPr/>
              <a:t>45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27038" y="0"/>
            <a:ext cx="6196012" cy="3486150"/>
          </a:xfrm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dirty="0">
              <a:latin typeface="Arial" panose="020B0604020202020204" pitchFamily="34" charset="0"/>
            </a:endParaRP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623" indent="-285624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2498" indent="-228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9497" indent="-228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6497" indent="-228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3496" indent="-228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0494" indent="-228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7493" indent="-228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4492" indent="-228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93569C-E5FE-40AC-95BF-6A350CB68013}" type="slidenum">
              <a:rPr lang="en-US" altLang="en-US" smtClean="0"/>
              <a:pPr/>
              <a:t>46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7038" y="0"/>
            <a:ext cx="6196012" cy="348615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938E9-3CF5-4342-8AA5-D6C8328A4531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8643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592277" y="6021288"/>
            <a:ext cx="3599723" cy="83671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958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9A79E9-EBC4-50F6-D1D7-E4D2D113C13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2720736" y="2420888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43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592277" y="6021288"/>
            <a:ext cx="3599723" cy="83671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7214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8592277" y="6021288"/>
            <a:ext cx="3599723" cy="83671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7696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3399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8592277" y="6021288"/>
            <a:ext cx="3599723" cy="83671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933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8592277" y="6021288"/>
            <a:ext cx="3599723" cy="83671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4977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5268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7618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0127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8710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7881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63AB30-5AE6-4EF5-BC1E-666CEEB97FE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386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90CE34-D00A-45E6-9D5B-7C13964B237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343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E611C1-461F-4EF8-BE2E-EB9C695CCBA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884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232DB2-9450-4376-B9C7-895A4D5A62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1049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862F9A-A6BB-4074-B4D8-89C6AF827DE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78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6BC2C9-9403-42C7-89AF-B8422E72C92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959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E89761-2773-4C45-9697-C18DC4F803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2420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C0F28C8-F4EB-4F90-A783-B17E7C9293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143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6CBB25-41B6-4D6D-A747-54BADFCA282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575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D7720E-1892-4DD8-A042-3E16C34CF0C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290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3ACB78-6062-460B-A0B8-2D8A82DF092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1827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5858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27661930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Sma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5188321" y="1676728"/>
            <a:ext cx="1815163" cy="1814739"/>
          </a:xfrm>
          <a:prstGeom prst="ellipse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2191997" cy="258409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21657145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1072707" y="1777295"/>
            <a:ext cx="1989629" cy="1989165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3687191" y="1777295"/>
            <a:ext cx="1989629" cy="1989165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378022" y="1777295"/>
            <a:ext cx="1989629" cy="1989165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9054524" y="1777295"/>
            <a:ext cx="1989629" cy="1989165"/>
          </a:xfrm>
          <a:prstGeom prst="ellipse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33676" y="356628"/>
            <a:ext cx="11524648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677" y="825950"/>
            <a:ext cx="11524647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7339112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1072707" y="1777295"/>
            <a:ext cx="1989629" cy="1989165"/>
          </a:xfrm>
          <a:prstGeom prst="roundRect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3687191" y="1777295"/>
            <a:ext cx="1989629" cy="1989165"/>
          </a:xfrm>
          <a:prstGeom prst="roundRect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378022" y="1777295"/>
            <a:ext cx="1989629" cy="1989165"/>
          </a:xfrm>
          <a:prstGeom prst="roundRect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9054524" y="1777295"/>
            <a:ext cx="1989629" cy="1989165"/>
          </a:xfrm>
          <a:prstGeom prst="roundRect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333676" y="356628"/>
            <a:ext cx="11524648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677" y="825950"/>
            <a:ext cx="11524647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2352573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900057" y="1777294"/>
            <a:ext cx="3244279" cy="3260313"/>
          </a:xfrm>
          <a:prstGeom prst="roundRect">
            <a:avLst>
              <a:gd name="adj" fmla="val 8446"/>
            </a:avLst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33676" y="356628"/>
            <a:ext cx="11524648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677" y="825950"/>
            <a:ext cx="11524647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0274124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99380" y="1488610"/>
            <a:ext cx="1806275" cy="1805853"/>
          </a:xfrm>
          <a:prstGeom prst="roundRect">
            <a:avLst>
              <a:gd name="adj" fmla="val 11041"/>
            </a:avLst>
          </a:prstGeom>
          <a:ln w="28575">
            <a:solidFill>
              <a:schemeClr val="accent1"/>
            </a:solidFill>
          </a:ln>
        </p:spPr>
        <p:txBody>
          <a:bodyPr anchor="b"/>
          <a:lstStyle>
            <a:lvl1pPr algn="ctr">
              <a:buNone/>
              <a:defRPr sz="1333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557144" y="1488610"/>
            <a:ext cx="1806275" cy="1805853"/>
          </a:xfrm>
          <a:prstGeom prst="roundRect">
            <a:avLst>
              <a:gd name="adj" fmla="val 13151"/>
            </a:avLst>
          </a:prstGeom>
          <a:ln w="28575">
            <a:solidFill>
              <a:schemeClr val="accent2"/>
            </a:solidFill>
          </a:ln>
        </p:spPr>
        <p:txBody>
          <a:bodyPr anchor="b"/>
          <a:lstStyle>
            <a:lvl1pPr algn="ctr">
              <a:buNone/>
              <a:defRPr sz="1333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614908" y="1488610"/>
            <a:ext cx="1806275" cy="1805853"/>
          </a:xfrm>
          <a:prstGeom prst="roundRect">
            <a:avLst>
              <a:gd name="adj" fmla="val 11744"/>
            </a:avLst>
          </a:prstGeom>
          <a:ln w="28575">
            <a:solidFill>
              <a:schemeClr val="accent3"/>
            </a:solidFill>
          </a:ln>
        </p:spPr>
        <p:txBody>
          <a:bodyPr anchor="b"/>
          <a:lstStyle>
            <a:lvl1pPr algn="ctr">
              <a:buNone/>
              <a:defRPr sz="1333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674923" y="1488610"/>
            <a:ext cx="1806275" cy="1805853"/>
          </a:xfrm>
          <a:prstGeom prst="roundRect">
            <a:avLst>
              <a:gd name="adj" fmla="val 7524"/>
            </a:avLst>
          </a:prstGeom>
          <a:ln w="28575">
            <a:solidFill>
              <a:schemeClr val="accent4"/>
            </a:solidFill>
          </a:ln>
        </p:spPr>
        <p:txBody>
          <a:bodyPr anchor="b"/>
          <a:lstStyle>
            <a:lvl1pPr algn="ctr">
              <a:buNone/>
              <a:defRPr sz="1333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333676" y="356628"/>
            <a:ext cx="11524648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677" y="825950"/>
            <a:ext cx="11524647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6501815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226225" y="1742904"/>
            <a:ext cx="1806275" cy="1805853"/>
          </a:xfrm>
          <a:prstGeom prst="roundRect">
            <a:avLst>
              <a:gd name="adj" fmla="val 11744"/>
            </a:avLst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173535" y="1742904"/>
            <a:ext cx="1806275" cy="1805853"/>
          </a:xfrm>
          <a:prstGeom prst="roundRect">
            <a:avLst>
              <a:gd name="adj" fmla="val 7524"/>
            </a:avLst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33676" y="356628"/>
            <a:ext cx="11524648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677" y="825950"/>
            <a:ext cx="11524647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8374777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596691" y="3207051"/>
            <a:ext cx="1297573" cy="1297272"/>
          </a:xfrm>
          <a:prstGeom prst="ellipse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anchor="b"/>
          <a:lstStyle>
            <a:lvl1pPr algn="ctr">
              <a:buNone/>
              <a:defRPr sz="933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5391886" y="1377389"/>
            <a:ext cx="1297573" cy="1297272"/>
          </a:xfrm>
          <a:prstGeom prst="ellipse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2"/>
            </a:solidFill>
          </a:ln>
        </p:spPr>
        <p:txBody>
          <a:bodyPr anchor="b"/>
          <a:lstStyle>
            <a:lvl1pPr algn="ctr">
              <a:buNone/>
              <a:defRPr sz="933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7224747" y="3198356"/>
            <a:ext cx="1297573" cy="1297272"/>
          </a:xfrm>
          <a:prstGeom prst="ellipse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3"/>
            </a:solidFill>
          </a:ln>
        </p:spPr>
        <p:txBody>
          <a:bodyPr anchor="b"/>
          <a:lstStyle>
            <a:lvl1pPr algn="ctr">
              <a:buNone/>
              <a:defRPr sz="933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5399164" y="5012383"/>
            <a:ext cx="1297573" cy="1297272"/>
          </a:xfrm>
          <a:prstGeom prst="ellipse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4"/>
            </a:solidFill>
          </a:ln>
        </p:spPr>
        <p:txBody>
          <a:bodyPr anchor="b"/>
          <a:lstStyle>
            <a:lvl1pPr algn="ctr">
              <a:buNone/>
              <a:defRPr sz="933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333676" y="356628"/>
            <a:ext cx="11524648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677" y="825950"/>
            <a:ext cx="11524647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8649907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72416"/>
            <a:ext cx="12191997" cy="4921720"/>
          </a:xfrm>
          <a:prstGeom prst="downArrowCallout">
            <a:avLst>
              <a:gd name="adj1" fmla="val 50000"/>
              <a:gd name="adj2" fmla="val 15352"/>
              <a:gd name="adj3" fmla="val 5443"/>
              <a:gd name="adj4" fmla="val 94557"/>
            </a:avLst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33676" y="356628"/>
            <a:ext cx="11524648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677" y="825950"/>
            <a:ext cx="11524647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2596728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ef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42381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22020110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6249619" y="0"/>
            <a:ext cx="5942381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132145029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Pictur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83399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297274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411149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42358364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Pictur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75895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361234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241795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33676" y="356628"/>
            <a:ext cx="11524648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677" y="825950"/>
            <a:ext cx="11524647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4395686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w Left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83399" y="1575369"/>
            <a:ext cx="3597455" cy="3400024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411149" y="1575371"/>
            <a:ext cx="3597455" cy="3400023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193775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w Left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83399" y="1575369"/>
            <a:ext cx="3597455" cy="3400024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35096200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d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5020671" y="1382568"/>
            <a:ext cx="3360699" cy="4965187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5221"/>
            </a:avLst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333676" y="356628"/>
            <a:ext cx="11524648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677" y="825950"/>
            <a:ext cx="11524647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52883090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463041" y="1758206"/>
            <a:ext cx="3250392" cy="42701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7478569" y="1758206"/>
            <a:ext cx="3250392" cy="42701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algn="ctr" rtl="0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4344776" y="1438846"/>
            <a:ext cx="3647921" cy="49089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algn="ctr" rtl="0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33676" y="356628"/>
            <a:ext cx="11524648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677" y="825950"/>
            <a:ext cx="11524647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41079411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75894" y="1201531"/>
            <a:ext cx="3469533" cy="23653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30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361234" y="1201531"/>
            <a:ext cx="3469533" cy="23653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31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241795" y="1201531"/>
            <a:ext cx="3469533" cy="23653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32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475894" y="3806159"/>
            <a:ext cx="3469533" cy="23653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33" name="Picture Placeholder 6"/>
          <p:cNvSpPr>
            <a:spLocks noGrp="1"/>
          </p:cNvSpPr>
          <p:nvPr>
            <p:ph type="pic" sz="quarter" idx="17" hasCustomPrompt="1"/>
          </p:nvPr>
        </p:nvSpPr>
        <p:spPr>
          <a:xfrm>
            <a:off x="8241795" y="3806159"/>
            <a:ext cx="3469533" cy="23653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34" name="Picture Placeholder 6"/>
          <p:cNvSpPr>
            <a:spLocks noGrp="1"/>
          </p:cNvSpPr>
          <p:nvPr>
            <p:ph type="pic" sz="quarter" idx="18" hasCustomPrompt="1"/>
          </p:nvPr>
        </p:nvSpPr>
        <p:spPr>
          <a:xfrm>
            <a:off x="4361234" y="3806159"/>
            <a:ext cx="3469533" cy="23653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333676" y="356628"/>
            <a:ext cx="11524648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677" y="825950"/>
            <a:ext cx="11524647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7452014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296334" y="215900"/>
            <a:ext cx="5880100" cy="6426200"/>
          </a:xfrm>
          <a:prstGeom prst="round1Rect">
            <a:avLst>
              <a:gd name="adj" fmla="val 5318"/>
            </a:avLst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06867" y="216720"/>
            <a:ext cx="5488240" cy="4518040"/>
          </a:xfrm>
          <a:prstGeom prst="round1Rect">
            <a:avLst>
              <a:gd name="adj" fmla="val 6441"/>
            </a:avLst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06865" y="4978885"/>
            <a:ext cx="5488240" cy="16623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 here !</a:t>
            </a:r>
          </a:p>
        </p:txBody>
      </p:sp>
    </p:spTree>
    <p:extLst>
      <p:ext uri="{BB962C8B-B14F-4D97-AF65-F5344CB8AC3E}">
        <p14:creationId xmlns:p14="http://schemas.microsoft.com/office/powerpoint/2010/main" val="10140744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7988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 hasCustomPrompt="1"/>
          </p:nvPr>
        </p:nvSpPr>
        <p:spPr>
          <a:xfrm>
            <a:off x="333676" y="356628"/>
            <a:ext cx="11524648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677" y="825950"/>
            <a:ext cx="11524647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6310798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872079" y="1680134"/>
            <a:ext cx="2516013" cy="4390199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5221"/>
            </a:avLst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 algn="ctr">
              <a:buNone/>
              <a:defRPr sz="1333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insert your image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3676" y="356628"/>
            <a:ext cx="11524648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677" y="825950"/>
            <a:ext cx="11524647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2483492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791720" y="541356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r">
              <a:defRPr sz="2667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823720" y="1010678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>
              <a:buNone/>
              <a:defRPr sz="14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2095893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33676" y="356628"/>
            <a:ext cx="11524648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677" y="825950"/>
            <a:ext cx="11524647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5247852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157321" y="1963502"/>
            <a:ext cx="1895355" cy="1894789"/>
          </a:xfrm>
          <a:prstGeom prst="roundRect">
            <a:avLst/>
          </a:prstGeom>
          <a:ln w="28575">
            <a:solidFill>
              <a:schemeClr val="accent1"/>
            </a:solidFill>
          </a:ln>
        </p:spPr>
        <p:txBody>
          <a:bodyPr bIns="18288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18" hasCustomPrompt="1"/>
          </p:nvPr>
        </p:nvSpPr>
        <p:spPr>
          <a:xfrm>
            <a:off x="3763524" y="1963502"/>
            <a:ext cx="1895355" cy="1894789"/>
          </a:xfrm>
          <a:prstGeom prst="roundRect">
            <a:avLst/>
          </a:prstGeom>
          <a:ln w="28575">
            <a:solidFill>
              <a:schemeClr val="accent2"/>
            </a:solidFill>
          </a:ln>
        </p:spPr>
        <p:txBody>
          <a:bodyPr bIns="18288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37" name="Picture Placeholder 7"/>
          <p:cNvSpPr>
            <a:spLocks noGrp="1"/>
          </p:cNvSpPr>
          <p:nvPr>
            <p:ph type="pic" sz="quarter" idx="21" hasCustomPrompt="1"/>
          </p:nvPr>
        </p:nvSpPr>
        <p:spPr>
          <a:xfrm>
            <a:off x="6438789" y="1963502"/>
            <a:ext cx="1895355" cy="1894789"/>
          </a:xfrm>
          <a:prstGeom prst="roundRect">
            <a:avLst/>
          </a:prstGeom>
          <a:ln w="28575">
            <a:solidFill>
              <a:schemeClr val="accent3"/>
            </a:solidFill>
          </a:ln>
        </p:spPr>
        <p:txBody>
          <a:bodyPr bIns="18288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40" name="Picture Placeholder 7"/>
          <p:cNvSpPr>
            <a:spLocks noGrp="1"/>
          </p:cNvSpPr>
          <p:nvPr>
            <p:ph type="pic" sz="quarter" idx="24" hasCustomPrompt="1"/>
          </p:nvPr>
        </p:nvSpPr>
        <p:spPr>
          <a:xfrm>
            <a:off x="9113800" y="1963502"/>
            <a:ext cx="1895355" cy="1894789"/>
          </a:xfrm>
          <a:prstGeom prst="roundRect">
            <a:avLst/>
          </a:prstGeom>
          <a:ln w="28575">
            <a:solidFill>
              <a:schemeClr val="accent4"/>
            </a:solidFill>
          </a:ln>
        </p:spPr>
        <p:txBody>
          <a:bodyPr bIns="18288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333676" y="356628"/>
            <a:ext cx="11524648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677" y="825950"/>
            <a:ext cx="11524647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553780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4" grpId="0" animBg="1"/>
      <p:bldP spid="37" grpId="0" animBg="1"/>
      <p:bldP spid="40" grpId="0" animBg="1"/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am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2"/>
            <a:ext cx="12192000" cy="3966663"/>
          </a:xfrm>
          <a:prstGeom prst="downArrowCallout">
            <a:avLst>
              <a:gd name="adj1" fmla="val 35178"/>
              <a:gd name="adj2" fmla="val 13059"/>
              <a:gd name="adj3" fmla="val 7566"/>
              <a:gd name="adj4" fmla="val 9243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79346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am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0508"/>
            <a:ext cx="12192000" cy="4343200"/>
          </a:xfrm>
          <a:prstGeom prst="downArrowCallout">
            <a:avLst>
              <a:gd name="adj1" fmla="val 35178"/>
              <a:gd name="adj2" fmla="val 13059"/>
              <a:gd name="adj3" fmla="val 7566"/>
              <a:gd name="adj4" fmla="val 9243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33676" y="356628"/>
            <a:ext cx="11524648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677" y="825950"/>
            <a:ext cx="11524647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21689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880609" y="1892815"/>
            <a:ext cx="4908153" cy="4301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333676" y="356628"/>
            <a:ext cx="11524648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677" y="825950"/>
            <a:ext cx="11524647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639332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ockUp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656055" y="1615389"/>
            <a:ext cx="3707396" cy="21063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55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3798318" y="2836334"/>
            <a:ext cx="2708361" cy="16939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56" name="Title 1"/>
          <p:cNvSpPr>
            <a:spLocks noGrp="1"/>
          </p:cNvSpPr>
          <p:nvPr>
            <p:ph type="title" hasCustomPrompt="1"/>
          </p:nvPr>
        </p:nvSpPr>
        <p:spPr>
          <a:xfrm>
            <a:off x="333676" y="356628"/>
            <a:ext cx="11524648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677" y="825950"/>
            <a:ext cx="11524647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24976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 animBg="1"/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ockUp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8630708" y="1309918"/>
            <a:ext cx="2373771" cy="31805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bIns="457200" anchor="b"/>
          <a:lstStyle>
            <a:lvl1pPr algn="ctr">
              <a:buNone/>
              <a:defRPr sz="5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47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7884823" y="2732897"/>
            <a:ext cx="1049099" cy="18899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bIns="457200" anchor="b"/>
          <a:lstStyle>
            <a:lvl1pPr algn="ctr">
              <a:buNone/>
              <a:defRPr sz="5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48" name="Title 1"/>
          <p:cNvSpPr>
            <a:spLocks noGrp="1"/>
          </p:cNvSpPr>
          <p:nvPr>
            <p:ph type="title" hasCustomPrompt="1"/>
          </p:nvPr>
        </p:nvSpPr>
        <p:spPr>
          <a:xfrm>
            <a:off x="333676" y="356628"/>
            <a:ext cx="11524648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677" y="825950"/>
            <a:ext cx="11524647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0425200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ockUp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1"/>
          <p:cNvSpPr>
            <a:spLocks noGrp="1"/>
          </p:cNvSpPr>
          <p:nvPr>
            <p:ph type="title" hasCustomPrompt="1"/>
          </p:nvPr>
        </p:nvSpPr>
        <p:spPr>
          <a:xfrm>
            <a:off x="333676" y="356628"/>
            <a:ext cx="11524648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677" y="825950"/>
            <a:ext cx="11524647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863080" y="1448892"/>
            <a:ext cx="4946429" cy="30723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bIns="457200" anchor="b"/>
          <a:lstStyle>
            <a:lvl1pPr algn="ctr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6382491" y="1448892"/>
            <a:ext cx="4946429" cy="30723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bIns="457200" anchor="b"/>
          <a:lstStyle>
            <a:lvl1pPr algn="ctr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90940024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ockUp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1"/>
          <p:cNvSpPr>
            <a:spLocks noGrp="1"/>
          </p:cNvSpPr>
          <p:nvPr>
            <p:ph type="title" hasCustomPrompt="1"/>
          </p:nvPr>
        </p:nvSpPr>
        <p:spPr>
          <a:xfrm>
            <a:off x="333676" y="356628"/>
            <a:ext cx="11524648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677" y="825950"/>
            <a:ext cx="11524647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Subtext Goes Here</a:t>
            </a:r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6382491" y="3044954"/>
            <a:ext cx="4946429" cy="30723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bIns="457200" anchor="b"/>
          <a:lstStyle>
            <a:lvl1pPr algn="ctr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90304354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417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26" Type="http://schemas.openxmlformats.org/officeDocument/2006/relationships/slideLayout" Target="../slideLayouts/slideLayout49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34" Type="http://schemas.openxmlformats.org/officeDocument/2006/relationships/slideLayout" Target="../slideLayouts/slideLayout57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5" Type="http://schemas.openxmlformats.org/officeDocument/2006/relationships/slideLayout" Target="../slideLayouts/slideLayout48.xml"/><Relationship Id="rId33" Type="http://schemas.openxmlformats.org/officeDocument/2006/relationships/slideLayout" Target="../slideLayouts/slideLayout56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29" Type="http://schemas.openxmlformats.org/officeDocument/2006/relationships/slideLayout" Target="../slideLayouts/slideLayout52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47.xml"/><Relationship Id="rId32" Type="http://schemas.openxmlformats.org/officeDocument/2006/relationships/slideLayout" Target="../slideLayouts/slideLayout55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28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54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Relationship Id="rId27" Type="http://schemas.openxmlformats.org/officeDocument/2006/relationships/slideLayout" Target="../slideLayouts/slideLayout50.xml"/><Relationship Id="rId30" Type="http://schemas.openxmlformats.org/officeDocument/2006/relationships/slideLayout" Target="../slideLayouts/slideLayout53.xml"/><Relationship Id="rId35" Type="http://schemas.openxmlformats.org/officeDocument/2006/relationships/theme" Target="../theme/theme3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9" descr="Rotman U of T Logo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6785" y="6199189"/>
            <a:ext cx="277283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8592277" y="6021288"/>
            <a:ext cx="3599723" cy="83671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88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 userDrawn="1"/>
        </p:nvSpPr>
        <p:spPr bwMode="auto">
          <a:xfrm rot="5400000">
            <a:off x="17775" y="6449594"/>
            <a:ext cx="335292" cy="370845"/>
          </a:xfrm>
          <a:prstGeom prst="round2SameRect">
            <a:avLst/>
          </a:pr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/>
          <p:cNvSpPr txBox="1"/>
          <p:nvPr userDrawn="1"/>
        </p:nvSpPr>
        <p:spPr bwMode="gray">
          <a:xfrm>
            <a:off x="-35555" y="6532456"/>
            <a:ext cx="406400" cy="20512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0" algn="ctr" defTabSz="1219170" rtl="0" eaLnBrk="1" latinLnBrk="0" hangingPunct="1"/>
            <a:fld id="{6C5AF65D-6854-49AF-ABC5-48B5BA0EA842}" type="slidenum">
              <a:rPr lang="en-US" sz="1333" b="0" i="0" kern="1200" smtClean="0">
                <a:solidFill>
                  <a:schemeClr val="bg1"/>
                </a:solidFill>
                <a:latin typeface="HP Simplified"/>
                <a:ea typeface="+mn-ea"/>
                <a:cs typeface="HP Simplified"/>
              </a:rPr>
              <a:pPr marL="0" algn="ctr" defTabSz="1219170" rtl="0" eaLnBrk="1" latinLnBrk="0" hangingPunct="1"/>
              <a:t>‹#›</a:t>
            </a:fld>
            <a:endParaRPr lang="en-US" sz="1333" b="0" i="0" kern="1200">
              <a:solidFill>
                <a:schemeClr val="bg1"/>
              </a:solidFill>
              <a:latin typeface="HP Simplified"/>
              <a:ea typeface="+mn-ea"/>
              <a:cs typeface="HP Simplified"/>
            </a:endParaRPr>
          </a:p>
        </p:txBody>
      </p:sp>
    </p:spTree>
    <p:extLst>
      <p:ext uri="{BB962C8B-B14F-4D97-AF65-F5344CB8AC3E}">
        <p14:creationId xmlns:p14="http://schemas.microsoft.com/office/powerpoint/2010/main" val="735351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1" r:id="rId24"/>
    <p:sldLayoutId id="2147483713" r:id="rId25"/>
    <p:sldLayoutId id="2147483714" r:id="rId26"/>
    <p:sldLayoutId id="2147483715" r:id="rId27"/>
    <p:sldLayoutId id="2147483716" r:id="rId28"/>
    <p:sldLayoutId id="2147483717" r:id="rId29"/>
    <p:sldLayoutId id="2147483718" r:id="rId30"/>
    <p:sldLayoutId id="2147483719" r:id="rId31"/>
    <p:sldLayoutId id="2147483720" r:id="rId32"/>
    <p:sldLayoutId id="2147483721" r:id="rId33"/>
    <p:sldLayoutId id="2147483762" r:id="rId34"/>
  </p:sldLayoutIdLst>
  <p:hf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6.xml"/><Relationship Id="rId18" Type="http://schemas.openxmlformats.org/officeDocument/2006/relationships/slide" Target="slide37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slide" Target="slide3.xml"/><Relationship Id="rId17" Type="http://schemas.openxmlformats.org/officeDocument/2006/relationships/slide" Target="slide30.xml"/><Relationship Id="rId2" Type="http://schemas.openxmlformats.org/officeDocument/2006/relationships/notesSlide" Target="../notesSlides/notesSlide2.xml"/><Relationship Id="rId16" Type="http://schemas.openxmlformats.org/officeDocument/2006/relationships/slide" Target="slide2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png"/><Relationship Id="rId11" Type="http://schemas.openxmlformats.org/officeDocument/2006/relationships/slide" Target="slide1.xml"/><Relationship Id="rId5" Type="http://schemas.openxmlformats.org/officeDocument/2006/relationships/image" Target="../media/image5.png"/><Relationship Id="rId15" Type="http://schemas.openxmlformats.org/officeDocument/2006/relationships/slide" Target="slide20.xml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9.gif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timhortons.com/ca/en/corporate/franchising-program.php" TargetMode="External"/><Relationship Id="rId4" Type="http://schemas.openxmlformats.org/officeDocument/2006/relationships/hyperlink" Target="http://w.subway.com/en-ca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KclqWru7a1U?start=31&amp;feature=oembed" TargetMode="External"/><Relationship Id="rId4" Type="http://schemas.openxmlformats.org/officeDocument/2006/relationships/image" Target="../media/image2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EFoUBRfwzWQ?feature=oembed" TargetMode="External"/><Relationship Id="rId5" Type="http://schemas.openxmlformats.org/officeDocument/2006/relationships/hyperlink" Target="https://www.youtube.com/watch?v=EFoUBRfwzWQ&amp;t=1s" TargetMode="External"/><Relationship Id="rId4" Type="http://schemas.openxmlformats.org/officeDocument/2006/relationships/image" Target="../media/image49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7" Type="http://schemas.openxmlformats.org/officeDocument/2006/relationships/image" Target="../media/image58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jpeg"/><Relationship Id="rId4" Type="http://schemas.openxmlformats.org/officeDocument/2006/relationships/image" Target="../media/image60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e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dc.ca/EN/Pages/home.aspx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6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abi.ca/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The 3 Levels of Wealth Creation. The easy to understand formula you can… |  by Cait Mack | The Capital | Medium">
            <a:extLst>
              <a:ext uri="{FF2B5EF4-FFF2-40B4-BE49-F238E27FC236}">
                <a16:creationId xmlns:a16="http://schemas.microsoft.com/office/drawing/2014/main" id="{D8F7B0CE-6811-4E79-8235-7476CB5429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A00595-EFF2-42E0-B30B-7D47F1AE5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Foundations of Business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05E2B8-6E0B-4E53-97F1-8DEF86DE9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>
            <a:normAutofit/>
          </a:bodyPr>
          <a:lstStyle/>
          <a:p>
            <a:endParaRPr lang="en-CA">
              <a:solidFill>
                <a:schemeClr val="tx1"/>
              </a:solidFill>
            </a:endParaRPr>
          </a:p>
        </p:txBody>
      </p:sp>
      <p:cxnSp>
        <p:nvCxnSpPr>
          <p:cNvPr id="3096" name="Straight Connector 3095">
            <a:extLst>
              <a:ext uri="{FF2B5EF4-FFF2-40B4-BE49-F238E27FC236}">
                <a16:creationId xmlns:a16="http://schemas.microsoft.com/office/drawing/2014/main" id="{F3CC58E3-BDF9-495D-9327-85F68058B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8" name="Rectangle 3097">
            <a:extLst>
              <a:ext uri="{FF2B5EF4-FFF2-40B4-BE49-F238E27FC236}">
                <a16:creationId xmlns:a16="http://schemas.microsoft.com/office/drawing/2014/main" id="{DA0CA737-33FC-47E3-965A-D1C2CAA62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999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100" name="Rectangle 3099">
            <a:extLst>
              <a:ext uri="{FF2B5EF4-FFF2-40B4-BE49-F238E27FC236}">
                <a16:creationId xmlns:a16="http://schemas.microsoft.com/office/drawing/2014/main" id="{22189942-24EB-488E-8B69-EB80F7E53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305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9275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1F917-8116-FB4E-B4AF-A0BBBBAA1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and Society</a:t>
            </a:r>
            <a:endParaRPr lang="en-CA" dirty="0"/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Summary Zoom 4">
                <a:extLst>
                  <a:ext uri="{FF2B5EF4-FFF2-40B4-BE49-F238E27FC236}">
                    <a16:creationId xmlns:a16="http://schemas.microsoft.com/office/drawing/2014/main" id="{CF5511B6-9EAC-49DF-BFD2-B744EE2F329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41360774"/>
                  </p:ext>
                </p:extLst>
              </p:nvPr>
            </p:nvGraphicFramePr>
            <p:xfrm>
              <a:off x="1096963" y="1846263"/>
              <a:ext cx="10058400" cy="4022725"/>
            </p:xfrm>
            <a:graphic>
              <a:graphicData uri="http://schemas.microsoft.com/office/powerpoint/2016/summaryzoom">
                <psuz:summaryZm>
                  <psuz:summaryZmObj sectionId="{690D5C04-680B-46A3-932B-36D6B81CE96E}">
                    <psuz:zmPr id="{DFFE1898-3AA8-44A1-BB02-B880FC97DE44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75618" y="695913"/>
                          <a:ext cx="2263140" cy="127301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C6486340-3BDE-4D62-AB44-6492A0164AB8}">
                    <psuz:zmPr id="{0A2AB497-9633-4628-8DBF-ABFFEDE87976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723626" y="695913"/>
                          <a:ext cx="2263140" cy="127301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CE9DF08D-F3B1-4578-8CCD-EC9037F5E663}">
                    <psuz:zmPr id="{D11D7943-AF3A-4BDE-9943-89D645D19751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071634" y="695913"/>
                          <a:ext cx="2263140" cy="127301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6BEF3B3E-39EA-46C2-B2C9-0DF6CB23278F}">
                    <psuz:zmPr id="{D77E8E50-D496-4140-A46B-102B71822D0F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419642" y="695913"/>
                          <a:ext cx="2263140" cy="127301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6EF62FDF-1AEF-4FF6-A9E9-7899419DCCE1}">
                    <psuz:zmPr id="{7B059603-3ACF-44DC-ACE1-1B60B1FC47F1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75618" y="2053797"/>
                          <a:ext cx="2263140" cy="127301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07AD27F0-66D6-435F-ADFF-86BC465B2336}">
                    <psuz:zmPr id="{98FE4E35-EBAB-426F-8300-4055FB025499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723626" y="2053797"/>
                          <a:ext cx="2263140" cy="127301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CA371194-7A00-4765-991F-DE6DFEA37706}">
                    <psuz:zmPr id="{54BFD38D-C165-49F2-A743-F32A9D14A43A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071634" y="2053797"/>
                          <a:ext cx="2263140" cy="127301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836AE27D-7A51-476E-9699-658E52EF3597}">
                    <psuz:zmPr id="{9B022B1C-4234-4E06-BABE-47538C760567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419642" y="2053797"/>
                          <a:ext cx="2263140" cy="127301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Summary Zoom 4">
                <a:extLst>
                  <a:ext uri="{FF2B5EF4-FFF2-40B4-BE49-F238E27FC236}">
                    <a16:creationId xmlns:a16="http://schemas.microsoft.com/office/drawing/2014/main" id="{CF5511B6-9EAC-49DF-BFD2-B744EE2F329C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1096963" y="1846263"/>
                <a:ext cx="10058400" cy="4022725"/>
                <a:chOff x="1096963" y="1846263"/>
                <a:chExt cx="10058400" cy="4022725"/>
              </a:xfrm>
            </p:grpSpPr>
            <p:pic>
              <p:nvPicPr>
                <p:cNvPr id="3" name="Picture 3">
                  <a:hlinkClick r:id="rId1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72581" y="2542176"/>
                  <a:ext cx="2263140" cy="1273016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4" name="Picture 4">
                  <a:hlinkClick r:id="rId12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20589" y="2542176"/>
                  <a:ext cx="2263140" cy="1273016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6" name="Picture 6">
                  <a:hlinkClick r:id="rId13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68597" y="2542176"/>
                  <a:ext cx="2263140" cy="1273016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7" name="Picture 7">
                  <a:hlinkClick r:id="rId14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516605" y="2542176"/>
                  <a:ext cx="2263140" cy="1273016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8" name="Picture 8">
                  <a:hlinkClick r:id="rId1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72581" y="3900060"/>
                  <a:ext cx="2263140" cy="1273016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9" name="Picture 9">
                  <a:hlinkClick r:id="rId1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820589" y="3900060"/>
                  <a:ext cx="2263140" cy="1273016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0" name="Picture 10">
                  <a:hlinkClick r:id="rId1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68597" y="3900060"/>
                  <a:ext cx="2263140" cy="1273016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1" name="Picture 11">
                  <a:hlinkClick r:id="rId1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16605" y="3900060"/>
                  <a:ext cx="2263140" cy="1273016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</p:spTree>
    <p:extLst>
      <p:ext uri="{BB962C8B-B14F-4D97-AF65-F5344CB8AC3E}">
        <p14:creationId xmlns:p14="http://schemas.microsoft.com/office/powerpoint/2010/main" val="1445888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45E70-F0C1-43A0-AFEB-D2823F326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Wealth Creation</a:t>
            </a:r>
            <a:endParaRPr lang="en-CA" dirty="0"/>
          </a:p>
        </p:txBody>
      </p:sp>
      <p:pic>
        <p:nvPicPr>
          <p:cNvPr id="6146" name="Picture 2" descr="The Laws of Wealth Creation | Wealth Within">
            <a:extLst>
              <a:ext uri="{FF2B5EF4-FFF2-40B4-BE49-F238E27FC236}">
                <a16:creationId xmlns:a16="http://schemas.microsoft.com/office/drawing/2014/main" id="{B4C4DF21-33C7-48B2-8905-E4B711569C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9600" y="1600201"/>
            <a:ext cx="109728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373707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n-CA" altLang="en-US"/>
              <a:t>Wealth Creation</a:t>
            </a:r>
            <a:endParaRPr lang="en-US" altLang="en-US"/>
          </a:p>
        </p:txBody>
      </p:sp>
      <p:graphicFrame>
        <p:nvGraphicFramePr>
          <p:cNvPr id="12296" name="Content Placeholder 2">
            <a:extLst>
              <a:ext uri="{FF2B5EF4-FFF2-40B4-BE49-F238E27FC236}">
                <a16:creationId xmlns:a16="http://schemas.microsoft.com/office/drawing/2014/main" id="{ADB7A376-45BD-4022-844D-13CEEE9618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3819032"/>
              </p:ext>
            </p:extLst>
          </p:nvPr>
        </p:nvGraphicFramePr>
        <p:xfrm>
          <a:off x="609600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n-CA" altLang="en-US"/>
              <a:t>Wealth Creation</a:t>
            </a:r>
            <a:endParaRPr lang="en-US" altLang="en-US"/>
          </a:p>
        </p:txBody>
      </p:sp>
      <p:graphicFrame>
        <p:nvGraphicFramePr>
          <p:cNvPr id="14341" name="Content Placeholder 2">
            <a:extLst>
              <a:ext uri="{FF2B5EF4-FFF2-40B4-BE49-F238E27FC236}">
                <a16:creationId xmlns:a16="http://schemas.microsoft.com/office/drawing/2014/main" id="{90D9BEE6-E40A-4C71-BEA0-0CC41A9A0B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0649107"/>
              </p:ext>
            </p:extLst>
          </p:nvPr>
        </p:nvGraphicFramePr>
        <p:xfrm>
          <a:off x="609600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46917-0502-4BDA-9C98-6442EA04A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Forms of Business Ownership</a:t>
            </a:r>
            <a:endParaRPr lang="en-CA" dirty="0"/>
          </a:p>
        </p:txBody>
      </p:sp>
      <p:pic>
        <p:nvPicPr>
          <p:cNvPr id="5122" name="Picture 2" descr="Forms of Business Ownership - AllBusiness.com">
            <a:extLst>
              <a:ext uri="{FF2B5EF4-FFF2-40B4-BE49-F238E27FC236}">
                <a16:creationId xmlns:a16="http://schemas.microsoft.com/office/drawing/2014/main" id="{364353BF-72C5-4458-899E-71C84FDE2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74646" y="1600201"/>
            <a:ext cx="6242707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859392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F90CF8-187A-4648-9D26-91F9BDEF7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wrap="square" anchor="b">
            <a:normAutofit/>
          </a:bodyPr>
          <a:lstStyle/>
          <a:p>
            <a:r>
              <a:rPr lang="en-US" altLang="en-US"/>
              <a:t>Forms of Private Business Ownership</a:t>
            </a:r>
            <a:endParaRPr lang="ru-RU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611AC45D-50F8-4FAE-A26C-29EB11D58A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2119330"/>
              </p:ext>
            </p:extLst>
          </p:nvPr>
        </p:nvGraphicFramePr>
        <p:xfrm>
          <a:off x="6312024" y="476672"/>
          <a:ext cx="5688632" cy="5649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50" name="Picture 2" descr="What is a Corporation? Formation, Management and Taxation in 2020 -  Financial Poise">
            <a:extLst>
              <a:ext uri="{FF2B5EF4-FFF2-40B4-BE49-F238E27FC236}">
                <a16:creationId xmlns:a16="http://schemas.microsoft.com/office/drawing/2014/main" id="{205D9B9D-0FB7-4212-A0E9-1CFF28272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59867" y="1844824"/>
            <a:ext cx="5520110" cy="3680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4332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Global and Regional Partnership Programs | Independent Evaluation Group">
            <a:extLst>
              <a:ext uri="{FF2B5EF4-FFF2-40B4-BE49-F238E27FC236}">
                <a16:creationId xmlns:a16="http://schemas.microsoft.com/office/drawing/2014/main" id="{8C8C3662-3D8D-4EBA-A6CE-F7D6B242D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1558" y="1600201"/>
            <a:ext cx="7716883" cy="409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85E0B4-9A29-DF46-BD45-BB048509F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700"/>
              <a:t>Advantages and Disadvantages of:</a:t>
            </a:r>
            <a:br>
              <a:rPr lang="en-US" altLang="en-US" sz="3700" b="1"/>
            </a:br>
            <a:endParaRPr lang="ru-RU" sz="370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A18395B-E6D1-463B-BE2E-FF551D509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6" name="Объект 2">
            <a:extLst>
              <a:ext uri="{FF2B5EF4-FFF2-40B4-BE49-F238E27FC236}">
                <a16:creationId xmlns:a16="http://schemas.microsoft.com/office/drawing/2014/main" id="{49745360-7374-4FAC-819B-6E01E9EFF12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45572303"/>
              </p:ext>
            </p:extLst>
          </p:nvPr>
        </p:nvGraphicFramePr>
        <p:xfrm>
          <a:off x="609600" y="1600201"/>
          <a:ext cx="5384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6752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67557F-43E9-D541-9A2C-56541A48C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700"/>
              <a:t>Corporate Management</a:t>
            </a:r>
            <a:br>
              <a:rPr lang="en-US" altLang="en-US" sz="3700" b="1"/>
            </a:br>
            <a:endParaRPr lang="ru-RU" sz="37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A08543-0BF0-5342-A9C6-BF00F5BDCA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 wrap="square" anchor="t">
            <a:normAutofit/>
          </a:bodyPr>
          <a:lstStyle/>
          <a:p>
            <a:pPr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 sz="2000" b="1" dirty="0"/>
              <a:t>Shareholders</a:t>
            </a:r>
            <a:r>
              <a:rPr lang="en-US" altLang="en-US" sz="2000" dirty="0"/>
              <a:t> – acquire shares in exchange for ownership</a:t>
            </a:r>
          </a:p>
          <a:p>
            <a:pPr marL="630238" lvl="1" indent="-273050"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§"/>
            </a:pPr>
            <a:r>
              <a:rPr lang="en-US" altLang="en-US" sz="2000" dirty="0"/>
              <a:t>Preferred Shares </a:t>
            </a:r>
          </a:p>
          <a:p>
            <a:pPr marL="1030288" lvl="2" indent="-273050"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§"/>
            </a:pPr>
            <a:r>
              <a:rPr lang="en-US" altLang="en-US" dirty="0"/>
              <a:t> </a:t>
            </a:r>
          </a:p>
          <a:p>
            <a:pPr marL="630238" lvl="1" indent="-273050"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§"/>
            </a:pPr>
            <a:r>
              <a:rPr lang="en-US" altLang="en-US" sz="2000" dirty="0"/>
              <a:t>Common Shares</a:t>
            </a:r>
          </a:p>
          <a:p>
            <a:pPr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 sz="2000" b="1" dirty="0"/>
              <a:t>Board of Directors </a:t>
            </a:r>
            <a:r>
              <a:rPr lang="en-US" altLang="en-US" sz="2000" dirty="0"/>
              <a:t>–  </a:t>
            </a:r>
          </a:p>
          <a:p>
            <a:pPr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 sz="2000" b="1" dirty="0"/>
              <a:t>Corporate Officers &amp; Managers</a:t>
            </a:r>
            <a:r>
              <a:rPr lang="en-US" altLang="en-US" sz="2000" dirty="0"/>
              <a:t> –  </a:t>
            </a:r>
            <a:endParaRPr lang="en-US" altLang="en-US" sz="2000" b="1" dirty="0"/>
          </a:p>
          <a:p>
            <a:pPr>
              <a:lnSpc>
                <a:spcPct val="90000"/>
              </a:lnSpc>
            </a:pPr>
            <a:endParaRPr lang="ru-RU" sz="2000" dirty="0"/>
          </a:p>
        </p:txBody>
      </p:sp>
      <p:pic>
        <p:nvPicPr>
          <p:cNvPr id="4098" name="Picture 2" descr="How to Evaluate Stock Performance">
            <a:extLst>
              <a:ext uri="{FF2B5EF4-FFF2-40B4-BE49-F238E27FC236}">
                <a16:creationId xmlns:a16="http://schemas.microsoft.com/office/drawing/2014/main" id="{FBC0AB3B-D1A2-40FA-AABD-AFA188AC78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197600" y="1600201"/>
            <a:ext cx="53848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702237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EDA1B9-8174-FB47-93C6-EA91DEFDE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wrap="square" anchor="b">
            <a:normAutofit/>
          </a:bodyPr>
          <a:lstStyle/>
          <a:p>
            <a:r>
              <a:rPr lang="en-US" altLang="en-US" sz="3200" dirty="0"/>
              <a:t>Franchising</a:t>
            </a:r>
            <a:endParaRPr lang="ru-RU" sz="3200" dirty="0"/>
          </a:p>
        </p:txBody>
      </p:sp>
      <p:pic>
        <p:nvPicPr>
          <p:cNvPr id="4098" name="Picture 2" descr="Tim Hortons officially reveals plans for new high end cafe in Toronto">
            <a:extLst>
              <a:ext uri="{FF2B5EF4-FFF2-40B4-BE49-F238E27FC236}">
                <a16:creationId xmlns:a16="http://schemas.microsoft.com/office/drawing/2014/main" id="{7F1BAE49-CA5F-4786-8B54-F38E188F06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766732" y="502443"/>
            <a:ext cx="6815667" cy="585311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648E708-8989-D844-B005-A62425B83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 wrap="square" anchor="t">
            <a:normAutofit/>
          </a:bodyPr>
          <a:lstStyle/>
          <a:p>
            <a:pPr eaLnBrk="1" hangingPunct="1">
              <a:buClr>
                <a:srgbClr val="136DB6"/>
              </a:buClr>
              <a:buSzPct val="65000"/>
              <a:defRPr/>
            </a:pPr>
            <a:r>
              <a:rPr lang="en-US" altLang="en-US" sz="2000" dirty="0"/>
              <a:t>A contract-based business arrangement between a manufacturer or other supplier, and a dealer, to produce and market the supplier’s good or service</a:t>
            </a:r>
          </a:p>
          <a:p>
            <a:pPr marL="630238" lvl="2" indent="-273050" eaLnBrk="1" hangingPunct="1">
              <a:buClr>
                <a:srgbClr val="136DB6"/>
              </a:buClr>
              <a:buSzPct val="65000"/>
              <a:buFont typeface="Wingdings" panose="05000000000000000000" pitchFamily="2" charset="2"/>
              <a:buChar char="§"/>
              <a:defRPr/>
            </a:pPr>
            <a:r>
              <a:rPr lang="en-US" altLang="en-US" sz="2000" dirty="0"/>
              <a:t>Example franchising opportunities:</a:t>
            </a:r>
          </a:p>
          <a:p>
            <a:pPr marL="1079500" lvl="4" indent="0" eaLnBrk="1" hangingPunct="1">
              <a:buClr>
                <a:srgbClr val="136DB6"/>
              </a:buClr>
              <a:buSzPct val="65000"/>
              <a:buNone/>
              <a:defRPr/>
            </a:pPr>
            <a:r>
              <a:rPr lang="en-US" altLang="en-US" sz="2000" dirty="0">
                <a:hlinkClick r:id="rId4"/>
              </a:rPr>
              <a:t>Subway</a:t>
            </a:r>
            <a:endParaRPr lang="en-US" altLang="en-US" sz="2000" dirty="0"/>
          </a:p>
          <a:p>
            <a:pPr marL="1079500" lvl="4" indent="0" eaLnBrk="1" hangingPunct="1">
              <a:buClr>
                <a:srgbClr val="136DB6"/>
              </a:buClr>
              <a:buSzPct val="65000"/>
              <a:buNone/>
              <a:defRPr/>
            </a:pPr>
            <a:r>
              <a:rPr lang="en-US" altLang="en-US" sz="2000" dirty="0">
                <a:hlinkClick r:id="rId5"/>
              </a:rPr>
              <a:t>Tim Hortons</a:t>
            </a:r>
            <a:endParaRPr lang="en-US" altLang="en-US" sz="2000" dirty="0"/>
          </a:p>
          <a:p>
            <a:pPr marL="742950" lvl="2" indent="-342900" eaLnBrk="1" hangingPunct="1">
              <a:buClr>
                <a:srgbClr val="136DB6"/>
              </a:buClr>
              <a:buSzPct val="65000"/>
              <a:buNone/>
              <a:defRPr/>
            </a:pPr>
            <a:r>
              <a:rPr lang="en-US" altLang="en-US" sz="2000" dirty="0"/>
              <a:t>		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569549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1258C9-8E01-444E-82F2-C0368B6AA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700"/>
              <a:t>The Franchising Sector</a:t>
            </a:r>
            <a:br>
              <a:rPr lang="en-US" altLang="en-US" sz="3700" b="1"/>
            </a:br>
            <a:endParaRPr lang="ru-RU" sz="3700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C89900B2-F7E6-468C-A293-10FF7D6A0E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8434489"/>
              </p:ext>
            </p:extLst>
          </p:nvPr>
        </p:nvGraphicFramePr>
        <p:xfrm>
          <a:off x="609600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8077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71A805-E1DD-7048-81DB-D511AC23D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n-US" altLang="en-US" dirty="0"/>
              <a:t>Franchising (Franchisee Perspective)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D30EEC-40A6-C548-88F1-A3FB9A53A83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 wrap="square" anchor="t">
            <a:normAutofit/>
          </a:bodyPr>
          <a:lstStyle/>
          <a:p>
            <a:pPr eaLnBrk="1" hangingPunct="1">
              <a:lnSpc>
                <a:spcPct val="90000"/>
              </a:lnSpc>
              <a:buClr>
                <a:srgbClr val="136DB6"/>
              </a:buClr>
              <a:buSzPct val="65000"/>
              <a:buFontTx/>
              <a:buNone/>
            </a:pPr>
            <a:r>
              <a:rPr lang="en-US" altLang="en-US" sz="3000" b="1" i="1" dirty="0"/>
              <a:t>ADVANTAGES</a:t>
            </a:r>
          </a:p>
          <a:p>
            <a:pPr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 sz="3000" dirty="0"/>
              <a:t> </a:t>
            </a:r>
          </a:p>
          <a:p>
            <a:pPr>
              <a:lnSpc>
                <a:spcPct val="90000"/>
              </a:lnSpc>
            </a:pPr>
            <a:endParaRPr lang="ru-RU" sz="30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352B19-8E8E-6545-8EF1-2D0A222C3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 wrap="square" anchor="t">
            <a:normAutofit/>
          </a:bodyPr>
          <a:lstStyle/>
          <a:p>
            <a:pPr>
              <a:buClr>
                <a:srgbClr val="136DB6"/>
              </a:buClr>
              <a:buSzPct val="65000"/>
              <a:buFontTx/>
              <a:buNone/>
            </a:pPr>
            <a:r>
              <a:rPr lang="en-US" altLang="en-US" sz="3000" b="1" i="1" dirty="0"/>
              <a:t>DISADVANTAGES</a:t>
            </a:r>
          </a:p>
          <a:p>
            <a:pPr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 sz="3000" dirty="0"/>
              <a:t> </a:t>
            </a:r>
          </a:p>
          <a:p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919082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Naples McDonald’s closes after 10 rats caught on video roaming restaurant">
            <a:hlinkClick r:id="" action="ppaction://media"/>
            <a:extLst>
              <a:ext uri="{FF2B5EF4-FFF2-40B4-BE49-F238E27FC236}">
                <a16:creationId xmlns:a16="http://schemas.microsoft.com/office/drawing/2014/main" id="{CBB6D64E-16DC-A01E-B7A6-800761B3A60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072664" cy="682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099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6788D-5756-433C-8903-49ED5DFAE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Starting a Business</a:t>
            </a:r>
            <a:endParaRPr lang="en-CA" dirty="0"/>
          </a:p>
        </p:txBody>
      </p:sp>
      <p:pic>
        <p:nvPicPr>
          <p:cNvPr id="7170" name="Picture 2" descr="How to Start a Small Business (Step-by-Step Guide) | ADP">
            <a:extLst>
              <a:ext uri="{FF2B5EF4-FFF2-40B4-BE49-F238E27FC236}">
                <a16:creationId xmlns:a16="http://schemas.microsoft.com/office/drawing/2014/main" id="{5B6ACFFB-98CD-44BC-A11F-F245C82247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9600" y="1600201"/>
            <a:ext cx="109728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47493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E2ECDA-15E3-7B47-9D16-F2D1127C6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700"/>
              <a:t>Finding Financing</a:t>
            </a:r>
            <a:br>
              <a:rPr lang="en-US" altLang="en-US" sz="3700" b="1"/>
            </a:br>
            <a:endParaRPr lang="ru-RU" sz="37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5FA7D4-8B92-6F46-9EFC-461F2E0BB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04112" y="1600201"/>
            <a:ext cx="4478288" cy="4983161"/>
          </a:xfrm>
        </p:spPr>
        <p:txBody>
          <a:bodyPr wrap="square" anchor="t">
            <a:normAutofit/>
          </a:bodyPr>
          <a:lstStyle/>
          <a:p>
            <a:pPr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 sz="2600" b="1" dirty="0"/>
              <a:t>Seed capital: </a:t>
            </a:r>
            <a:r>
              <a:rPr lang="en-US" altLang="en-US" sz="2600" dirty="0"/>
              <a:t>The initial funding needed to launch a new vendor</a:t>
            </a:r>
          </a:p>
          <a:p>
            <a:pPr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 sz="2600" dirty="0"/>
              <a:t>Debt Financing</a:t>
            </a:r>
          </a:p>
          <a:p>
            <a:pPr marL="630238" lvl="2" indent="-273050"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§"/>
            </a:pPr>
            <a:r>
              <a:rPr lang="en-US" altLang="en-US" sz="2600" dirty="0"/>
              <a:t> </a:t>
            </a:r>
          </a:p>
          <a:p>
            <a:pPr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 sz="2600" dirty="0"/>
              <a:t>Equity Financing</a:t>
            </a:r>
          </a:p>
          <a:p>
            <a:pPr marL="630238" lvl="2" indent="-273050"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§"/>
            </a:pPr>
            <a:r>
              <a:rPr lang="en-US" altLang="en-US" sz="2600" dirty="0"/>
              <a:t> </a:t>
            </a:r>
          </a:p>
          <a:p>
            <a:pPr>
              <a:lnSpc>
                <a:spcPct val="90000"/>
              </a:lnSpc>
            </a:pPr>
            <a:endParaRPr lang="ru-RU" sz="2600" dirty="0"/>
          </a:p>
        </p:txBody>
      </p:sp>
      <p:pic>
        <p:nvPicPr>
          <p:cNvPr id="5124" name="Picture 4" descr="How Debt Financing Is Adapting To Compete With Equity Financing">
            <a:extLst>
              <a:ext uri="{FF2B5EF4-FFF2-40B4-BE49-F238E27FC236}">
                <a16:creationId xmlns:a16="http://schemas.microsoft.com/office/drawing/2014/main" id="{6D67443F-582D-42F0-A7E2-E0CEAA822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96" y="1616050"/>
            <a:ext cx="6788946" cy="4525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5801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966963-CB48-F046-A4EA-FCEA85EB4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700"/>
              <a:t>Why Small Businesses Fail</a:t>
            </a:r>
            <a:br>
              <a:rPr lang="en-US" altLang="en-US" sz="3700" b="1"/>
            </a:br>
            <a:endParaRPr lang="ru-RU" sz="3700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504D6C72-A56B-4C2C-BCCD-1FCB2B5A37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0714023"/>
              </p:ext>
            </p:extLst>
          </p:nvPr>
        </p:nvGraphicFramePr>
        <p:xfrm>
          <a:off x="609600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04297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24EDCD-23B4-8247-BD70-EEDD4F497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700"/>
              <a:t>Why Small Businesses Fail  </a:t>
            </a:r>
            <a:br>
              <a:rPr lang="en-US" altLang="en-US" sz="3700" b="1"/>
            </a:br>
            <a:endParaRPr lang="ru-RU" sz="37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9268BC-FC3B-8E46-BDEA-5A4BECDF649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 wrap="square" anchor="t">
            <a:normAutofit/>
          </a:bodyPr>
          <a:lstStyle/>
          <a:p>
            <a:pPr eaLnBrk="1" hangingPunct="1"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/>
              <a:t>Management Inexperience</a:t>
            </a:r>
          </a:p>
          <a:p>
            <a:pPr marL="342900" lvl="1" indent="-342900" eaLnBrk="1" hangingPunct="1"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 sz="3200"/>
              <a:t>Inadequate Financing</a:t>
            </a:r>
          </a:p>
          <a:p>
            <a:pPr eaLnBrk="1" hangingPunct="1"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/>
              <a:t>Meeting Government Regulations</a:t>
            </a:r>
          </a:p>
          <a:p>
            <a:pPr marL="0" indent="0">
              <a:buNone/>
            </a:pPr>
            <a:endParaRPr lang="ru-RU"/>
          </a:p>
        </p:txBody>
      </p:sp>
      <p:pic>
        <p:nvPicPr>
          <p:cNvPr id="4098" name="Picture 2" descr="9 Reasons Why Most Businesses Fail In the First Year | Opstart">
            <a:extLst>
              <a:ext uri="{FF2B5EF4-FFF2-40B4-BE49-F238E27FC236}">
                <a16:creationId xmlns:a16="http://schemas.microsoft.com/office/drawing/2014/main" id="{35E964B7-6510-4190-9B5F-10A8A04B37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 bwMode="auto">
          <a:xfrm>
            <a:off x="6197600" y="1600201"/>
            <a:ext cx="53848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659264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3940BE-DD33-7C4C-88DA-4A3A297B6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700"/>
              <a:t>Creating a Business Plan</a:t>
            </a:r>
            <a:br>
              <a:rPr lang="en-US" altLang="en-US" sz="3700" b="1"/>
            </a:br>
            <a:endParaRPr lang="ru-RU" sz="37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D14606-4C67-0D4C-99DF-3BC83A8B78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11247040" cy="4525963"/>
          </a:xfrm>
        </p:spPr>
        <p:txBody>
          <a:bodyPr wrap="square" anchor="t">
            <a:normAutofit/>
          </a:bodyPr>
          <a:lstStyle/>
          <a:p>
            <a:pPr eaLnBrk="1" hangingPunct="1"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 dirty="0"/>
              <a:t>In the past, many entrepreneurs launched businesses without a formal business plan</a:t>
            </a:r>
          </a:p>
          <a:p>
            <a:pPr eaLnBrk="1" hangingPunct="1"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 dirty="0"/>
              <a:t>Business plans help contemporary entrepreneurs prepare enough resources and stay focused on key objectives</a:t>
            </a:r>
          </a:p>
          <a:p>
            <a:endParaRPr lang="ru-RU" dirty="0"/>
          </a:p>
        </p:txBody>
      </p:sp>
      <p:pic>
        <p:nvPicPr>
          <p:cNvPr id="4" name="Picture 13" descr="Изображение выглядит как снимок экрана&#10;&#10;&#10;&#10;Описание создано автоматически">
            <a:extLst>
              <a:ext uri="{FF2B5EF4-FFF2-40B4-BE49-F238E27FC236}">
                <a16:creationId xmlns:a16="http://schemas.microsoft.com/office/drawing/2014/main" id="{D20712FB-4086-3740-A0F7-88E3C17EF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87488" y="4149080"/>
            <a:ext cx="8602845" cy="1656046"/>
          </a:xfrm>
          <a:prstGeom prst="rect">
            <a:avLst/>
          </a:prstGeo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231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EA54E5-940E-714F-8D56-814AC5E33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700"/>
              <a:t>The Business Plan: A Foundation for Success</a:t>
            </a:r>
            <a:br>
              <a:rPr lang="en-US" altLang="en-US" sz="3700" b="1"/>
            </a:br>
            <a:endParaRPr lang="ru-RU" sz="37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66469F-C575-B349-8DE7-C7045CDF090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 wrap="square" anchor="t">
            <a:normAutofit/>
          </a:bodyPr>
          <a:lstStyle/>
          <a:p>
            <a:pPr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 sz="3000"/>
              <a:t>Creating a Business Plan</a:t>
            </a:r>
          </a:p>
          <a:p>
            <a:pPr marL="630238" lvl="1" indent="-273050"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§"/>
            </a:pPr>
            <a:r>
              <a:rPr lang="en-US" altLang="en-US" sz="3000"/>
              <a:t>Written documentation that provides orderly statement of goals, methods, and purpose</a:t>
            </a:r>
          </a:p>
          <a:p>
            <a:pPr marL="630238" lvl="1" indent="-273050"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§"/>
            </a:pPr>
            <a:r>
              <a:rPr lang="en-US" altLang="en-US" sz="3000"/>
              <a:t>Discusses the company’s mission and vision</a:t>
            </a:r>
          </a:p>
          <a:p>
            <a:pPr marL="630238" lvl="1" indent="-273050"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§"/>
            </a:pPr>
            <a:r>
              <a:rPr lang="en-US" altLang="en-US" sz="3000"/>
              <a:t>Analyzes unique advantage, customers, and competition</a:t>
            </a:r>
          </a:p>
          <a:p>
            <a:pPr marL="0" indent="0">
              <a:lnSpc>
                <a:spcPct val="90000"/>
              </a:lnSpc>
              <a:buNone/>
            </a:pPr>
            <a:endParaRPr lang="ru-RU" sz="3000"/>
          </a:p>
        </p:txBody>
      </p:sp>
      <p:pic>
        <p:nvPicPr>
          <p:cNvPr id="6146" name="Picture 2" descr="The Ultimate Guide to Writing a Nonprofit Business Plan (In 10 Steps)">
            <a:extLst>
              <a:ext uri="{FF2B5EF4-FFF2-40B4-BE49-F238E27FC236}">
                <a16:creationId xmlns:a16="http://schemas.microsoft.com/office/drawing/2014/main" id="{93A54DD0-83CA-41EC-8DC7-3D6190AAE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97600" y="2355438"/>
            <a:ext cx="5384800" cy="3015488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104950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altLang="en-US"/>
              <a:t>Entrepreneurship</a:t>
            </a:r>
          </a:p>
        </p:txBody>
      </p:sp>
      <p:sp>
        <p:nvSpPr>
          <p:cNvPr id="5529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altLang="en-US"/>
          </a:p>
        </p:txBody>
      </p:sp>
      <p:pic>
        <p:nvPicPr>
          <p:cNvPr id="55300" name="Picture 2" descr="Image result for entrepreneurshi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702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C6888-CDA7-4378-AD05-C24263A1D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Entrepreneurship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0A618-6539-4A18-961C-B30D7C6F0D2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5141167"/>
          </a:xfrm>
        </p:spPr>
        <p:txBody>
          <a:bodyPr wrap="square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CA" sz="2000" dirty="0"/>
              <a:t>The term ‘entrepreneurship’ has come to mean several different things:</a:t>
            </a:r>
          </a:p>
          <a:p>
            <a:pPr marL="0" indent="0">
              <a:lnSpc>
                <a:spcPct val="90000"/>
              </a:lnSpc>
              <a:buNone/>
            </a:pPr>
            <a:endParaRPr lang="en-CA" sz="2000" dirty="0"/>
          </a:p>
          <a:p>
            <a:pPr>
              <a:lnSpc>
                <a:spcPct val="90000"/>
              </a:lnSpc>
            </a:pPr>
            <a:r>
              <a:rPr lang="en-CA" sz="2000" dirty="0"/>
              <a:t>Working for oneself, rather than for someone else (for a salary)</a:t>
            </a:r>
          </a:p>
          <a:p>
            <a:pPr>
              <a:lnSpc>
                <a:spcPct val="90000"/>
              </a:lnSpc>
            </a:pPr>
            <a:r>
              <a:rPr lang="en-CA" sz="2000" dirty="0"/>
              <a:t>Entering a new market with new or existing products/ services; or an existing market with new products/ services</a:t>
            </a:r>
          </a:p>
          <a:p>
            <a:pPr>
              <a:lnSpc>
                <a:spcPct val="90000"/>
              </a:lnSpc>
            </a:pPr>
            <a:r>
              <a:rPr lang="en-CA" sz="2000" dirty="0"/>
              <a:t>Operating a firm in which there is no separation between owner/ manager</a:t>
            </a:r>
          </a:p>
          <a:p>
            <a:pPr>
              <a:lnSpc>
                <a:spcPct val="90000"/>
              </a:lnSpc>
            </a:pPr>
            <a:r>
              <a:rPr lang="en-CA" sz="2000" dirty="0"/>
              <a:t>The process of discovering, evaluating &amp; exploiting opportunities</a:t>
            </a:r>
          </a:p>
          <a:p>
            <a:pPr>
              <a:lnSpc>
                <a:spcPct val="90000"/>
              </a:lnSpc>
            </a:pPr>
            <a:r>
              <a:rPr lang="en-CA" sz="2000" dirty="0"/>
              <a:t>Creating new organizations of any type - not-for-profits as well as businesses – “social entrepreneurs”</a:t>
            </a:r>
          </a:p>
          <a:p>
            <a:pPr>
              <a:lnSpc>
                <a:spcPct val="90000"/>
              </a:lnSpc>
            </a:pPr>
            <a:endParaRPr lang="en-CA" sz="2000" dirty="0"/>
          </a:p>
        </p:txBody>
      </p:sp>
      <p:pic>
        <p:nvPicPr>
          <p:cNvPr id="8194" name="Picture 2" descr="How Do I Learn Entrepreneurship? | Elmhurst University Blog">
            <a:extLst>
              <a:ext uri="{FF2B5EF4-FFF2-40B4-BE49-F238E27FC236}">
                <a16:creationId xmlns:a16="http://schemas.microsoft.com/office/drawing/2014/main" id="{F818F8B4-2720-4D7B-ADED-5AB3A6829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97600" y="2335245"/>
            <a:ext cx="5384800" cy="3055874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460693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062322-C3F8-8346-AC51-FA2926F8A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700" kern="1200"/>
              <a:t>Characteristics of Entrepreneurs</a:t>
            </a:r>
            <a:br>
              <a:rPr lang="en-US" altLang="en-US" sz="3700" b="1" kern="1200"/>
            </a:br>
            <a:endParaRPr lang="en-US" sz="3700" kern="1200"/>
          </a:p>
        </p:txBody>
      </p:sp>
      <p:pic>
        <p:nvPicPr>
          <p:cNvPr id="4" name="Picture 12" descr="P:\Maria Guarascio\Books\Boone\Boone 14e\Supplements\Copyedited Files\Instructor PowerPoints\Jpegs\CH006\CH006-13.jpg">
            <a:extLst>
              <a:ext uri="{FF2B5EF4-FFF2-40B4-BE49-F238E27FC236}">
                <a16:creationId xmlns:a16="http://schemas.microsoft.com/office/drawing/2014/main" id="{070D82D1-DEDA-D34D-9F60-A5092C6A3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17085" y="1916832"/>
            <a:ext cx="6572449" cy="3910607"/>
          </a:xfrm>
          <a:prstGeom prst="rect">
            <a:avLst/>
          </a:prstGeo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 descr="How Richard Branson Maintains the Virgin Group">
            <a:extLst>
              <a:ext uri="{FF2B5EF4-FFF2-40B4-BE49-F238E27FC236}">
                <a16:creationId xmlns:a16="http://schemas.microsoft.com/office/drawing/2014/main" id="{F12AEABA-3DF5-4842-B14F-9A31ECAC5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66" y="1916832"/>
            <a:ext cx="4393671" cy="3295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5192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8364BD-DCB2-834C-BB0E-EAC3B2947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700" kern="1200" dirty="0"/>
              <a:t>Why People Become Entrepreneurs</a:t>
            </a:r>
            <a:br>
              <a:rPr lang="en-US" altLang="en-US" sz="3700" b="1" kern="1200" dirty="0"/>
            </a:br>
            <a:endParaRPr lang="en-US" sz="3700" kern="1200" dirty="0"/>
          </a:p>
        </p:txBody>
      </p:sp>
      <p:pic>
        <p:nvPicPr>
          <p:cNvPr id="4" name="Picture 12" descr="P:\Maria Guarascio\Books\Boone\Boone 14e\Supplements\Copyedited Files\Instructor PowerPoints\Jpegs\CH006\CH006-6-1.jpg">
            <a:extLst>
              <a:ext uri="{FF2B5EF4-FFF2-40B4-BE49-F238E27FC236}">
                <a16:creationId xmlns:a16="http://schemas.microsoft.com/office/drawing/2014/main" id="{43116941-2BA3-6141-977A-289D80267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5440" y="1470906"/>
            <a:ext cx="3021080" cy="4525963"/>
          </a:xfrm>
          <a:prstGeom prst="rect">
            <a:avLst/>
          </a:prstGeo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6" name="Picture 2" descr="Seven Traits I Learned From The Best Entrepreneur">
            <a:extLst>
              <a:ext uri="{FF2B5EF4-FFF2-40B4-BE49-F238E27FC236}">
                <a16:creationId xmlns:a16="http://schemas.microsoft.com/office/drawing/2014/main" id="{04FEE75D-240F-4683-AB92-0D021FBA6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936" y="1729495"/>
            <a:ext cx="6404400" cy="426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8403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CA2B0-DEF7-4891-98F7-B03FB2E0D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n-CA" dirty="0"/>
              <a:t>Entrepreneurial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451C2-4E82-43CC-A058-0D46F4199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983161"/>
          </a:xfrm>
        </p:spPr>
        <p:txBody>
          <a:bodyPr wrap="square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CA" sz="1800" dirty="0"/>
              <a:t>Entrepreneurship is the highest risk/ highest return activity in business:</a:t>
            </a:r>
          </a:p>
          <a:p>
            <a:pPr>
              <a:lnSpc>
                <a:spcPct val="90000"/>
              </a:lnSpc>
            </a:pPr>
            <a:r>
              <a:rPr lang="en-CA" sz="1800" dirty="0"/>
              <a:t>Appeals to certain kinds of people – the possibility of bringing inventive ideas to life</a:t>
            </a:r>
          </a:p>
          <a:p>
            <a:pPr>
              <a:lnSpc>
                <a:spcPct val="90000"/>
              </a:lnSpc>
            </a:pPr>
            <a:r>
              <a:rPr lang="en-CA" sz="1800" dirty="0"/>
              <a:t>Some entrepreneurs enjoy – are even passionate about - the process of launching a new company – business planning, product development, raising capital, hiring the right people, etc.  </a:t>
            </a:r>
          </a:p>
          <a:p>
            <a:pPr lvl="1">
              <a:lnSpc>
                <a:spcPct val="90000"/>
              </a:lnSpc>
            </a:pPr>
            <a:r>
              <a:rPr lang="en-CA" sz="1800" dirty="0"/>
              <a:t>Some of these “serial entrepreneurs” do it over &amp; over again</a:t>
            </a:r>
          </a:p>
          <a:p>
            <a:pPr>
              <a:lnSpc>
                <a:spcPct val="90000"/>
              </a:lnSpc>
            </a:pPr>
            <a:r>
              <a:rPr lang="en-CA" sz="1800" dirty="0"/>
              <a:t>Greatest challenges:</a:t>
            </a:r>
          </a:p>
          <a:p>
            <a:pPr lvl="1">
              <a:lnSpc>
                <a:spcPct val="90000"/>
              </a:lnSpc>
            </a:pPr>
            <a:r>
              <a:rPr lang="en-CA" sz="1800" dirty="0"/>
              <a:t>Great difficulties in raising investment funds for a brazen, new idea</a:t>
            </a:r>
          </a:p>
          <a:p>
            <a:pPr lvl="1">
              <a:lnSpc>
                <a:spcPct val="90000"/>
              </a:lnSpc>
            </a:pPr>
            <a:r>
              <a:rPr lang="en-CA" sz="1800" dirty="0"/>
              <a:t>Reality is nearly always very different from what was planned</a:t>
            </a:r>
          </a:p>
          <a:p>
            <a:pPr lvl="1">
              <a:lnSpc>
                <a:spcPct val="90000"/>
              </a:lnSpc>
            </a:pPr>
            <a:r>
              <a:rPr lang="en-CA" sz="1800" dirty="0"/>
              <a:t>High failure rate - even after initial funding secured</a:t>
            </a:r>
          </a:p>
          <a:p>
            <a:pPr>
              <a:lnSpc>
                <a:spcPct val="90000"/>
              </a:lnSpc>
            </a:pPr>
            <a:endParaRPr lang="en-CA" sz="1800" dirty="0"/>
          </a:p>
        </p:txBody>
      </p:sp>
      <p:pic>
        <p:nvPicPr>
          <p:cNvPr id="10242" name="Picture 2" descr="How to overcome entrepreneurship challenges?">
            <a:extLst>
              <a:ext uri="{FF2B5EF4-FFF2-40B4-BE49-F238E27FC236}">
                <a16:creationId xmlns:a16="http://schemas.microsoft.com/office/drawing/2014/main" id="{F57B6FFB-3BC4-4772-BA9D-802F2193A9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197600" y="1600201"/>
            <a:ext cx="53848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10500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F028C-5AB5-49FF-8802-75E26983B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700" dirty="0"/>
              <a:t>Small Businesses vs. Entrepreneurial Businesses</a:t>
            </a:r>
            <a:endParaRPr lang="en-CA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12B8F-E45C-4510-9E1D-AFA24EF0F5D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263351" y="1268760"/>
            <a:ext cx="5731049" cy="5472608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1800" dirty="0"/>
              <a:t>3 key differences: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1800" dirty="0"/>
          </a:p>
          <a:p>
            <a:pPr>
              <a:lnSpc>
                <a:spcPct val="90000"/>
              </a:lnSpc>
            </a:pPr>
            <a:r>
              <a:rPr lang="en-US" altLang="en-US" sz="1800" u="sng" dirty="0"/>
              <a:t>Size</a:t>
            </a:r>
            <a:r>
              <a:rPr lang="en-US" altLang="en-US" sz="1800" dirty="0"/>
              <a:t> – small businesses remain small; new entrepreneurial ventures are small now, but are expected to grow rapidly, going forward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1800" dirty="0"/>
          </a:p>
          <a:p>
            <a:pPr>
              <a:lnSpc>
                <a:spcPct val="90000"/>
              </a:lnSpc>
            </a:pPr>
            <a:r>
              <a:rPr lang="en-US" altLang="en-US" sz="1800" u="sng" dirty="0"/>
              <a:t>Age</a:t>
            </a:r>
            <a:r>
              <a:rPr lang="en-US" altLang="en-US" sz="1800" dirty="0"/>
              <a:t> – small businesses may have been that way for many years, even generations; as entrepreneurial ventures age, they grow-up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1800" dirty="0"/>
          </a:p>
          <a:p>
            <a:pPr>
              <a:lnSpc>
                <a:spcPct val="90000"/>
              </a:lnSpc>
            </a:pPr>
            <a:r>
              <a:rPr lang="en-US" altLang="en-US" sz="1800" u="sng" dirty="0"/>
              <a:t>Growth goals</a:t>
            </a:r>
            <a:r>
              <a:rPr lang="en-US" altLang="en-US" sz="1800" dirty="0"/>
              <a:t> – small businesses are not expected to grow significantly; may have growth potential, but owners unwilling to take required steps for growth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Because growth is a priority for entrepreneurs, founders will often sell a stake in the business to investors (and give up some control) to fuel growth</a:t>
            </a:r>
          </a:p>
          <a:p>
            <a:pPr>
              <a:lnSpc>
                <a:spcPct val="90000"/>
              </a:lnSpc>
            </a:pPr>
            <a:endParaRPr lang="en-CA" sz="1800" dirty="0"/>
          </a:p>
        </p:txBody>
      </p:sp>
      <p:pic>
        <p:nvPicPr>
          <p:cNvPr id="9218" name="Picture 2" descr="60 Small Business Ideas for Anyone Who Wants to Run Their Own Business">
            <a:extLst>
              <a:ext uri="{FF2B5EF4-FFF2-40B4-BE49-F238E27FC236}">
                <a16:creationId xmlns:a16="http://schemas.microsoft.com/office/drawing/2014/main" id="{A237FF21-107B-47B2-810F-F65A4A8DE0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 bwMode="auto">
          <a:xfrm>
            <a:off x="6197600" y="1600201"/>
            <a:ext cx="5384800" cy="4983161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32308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F515F-EFC5-42FF-9146-29D831918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David Birch Model</a:t>
            </a:r>
            <a:endParaRPr lang="en-CA" dirty="0"/>
          </a:p>
        </p:txBody>
      </p:sp>
      <p:pic>
        <p:nvPicPr>
          <p:cNvPr id="1028" name="Picture 4" descr="Netspider Capital | Hands-on investor and founder of great companies">
            <a:extLst>
              <a:ext uri="{FF2B5EF4-FFF2-40B4-BE49-F238E27FC236}">
                <a16:creationId xmlns:a16="http://schemas.microsoft.com/office/drawing/2014/main" id="{6A63E489-47FB-4DDC-9A6B-D7D888F887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1344" y="1709136"/>
            <a:ext cx="11795822" cy="4240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78307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81D3-2388-4A7C-9B9C-331ABD96B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Mice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064E9-0044-408C-B394-23E42FC307E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2000"/>
              <a:t>The vast majority of businesses in Canada are quite small</a:t>
            </a:r>
          </a:p>
          <a:p>
            <a:pPr lvl="1">
              <a:lnSpc>
                <a:spcPct val="90000"/>
              </a:lnSpc>
            </a:pPr>
            <a:r>
              <a:rPr lang="en-CA" sz="2000"/>
              <a:t>94.7% of companies employ fewer than 50 people </a:t>
            </a:r>
          </a:p>
          <a:p>
            <a:pPr lvl="1">
              <a:lnSpc>
                <a:spcPct val="90000"/>
              </a:lnSpc>
            </a:pPr>
            <a:r>
              <a:rPr lang="en-CA" sz="2000"/>
              <a:t>together generate enormous economic activity &amp; employment</a:t>
            </a:r>
          </a:p>
          <a:p>
            <a:pPr>
              <a:lnSpc>
                <a:spcPct val="90000"/>
              </a:lnSpc>
            </a:pPr>
            <a:r>
              <a:rPr lang="en-CA" sz="2000"/>
              <a:t>Typical examples: small retailers, local service firms (restaurants, auto repair), independent service businesses (consultants, freelancers, designers)</a:t>
            </a:r>
          </a:p>
          <a:p>
            <a:pPr>
              <a:lnSpc>
                <a:spcPct val="90000"/>
              </a:lnSpc>
            </a:pPr>
            <a:r>
              <a:rPr lang="en-CA" sz="2000"/>
              <a:t>Can typically change direction quickly </a:t>
            </a:r>
          </a:p>
          <a:p>
            <a:pPr>
              <a:lnSpc>
                <a:spcPct val="90000"/>
              </a:lnSpc>
            </a:pPr>
            <a:r>
              <a:rPr lang="en-CA" sz="2000"/>
              <a:t>Many do not aspire to grow large, so long as they remain attractively profitable</a:t>
            </a:r>
          </a:p>
          <a:p>
            <a:pPr>
              <a:lnSpc>
                <a:spcPct val="90000"/>
              </a:lnSpc>
            </a:pPr>
            <a:endParaRPr lang="en-CA" sz="2000"/>
          </a:p>
        </p:txBody>
      </p:sp>
      <p:pic>
        <p:nvPicPr>
          <p:cNvPr id="2050" name="Picture 2" descr="Here's what that house proud mouse was doing – plus five other animals who  take cleaning seriously">
            <a:extLst>
              <a:ext uri="{FF2B5EF4-FFF2-40B4-BE49-F238E27FC236}">
                <a16:creationId xmlns:a16="http://schemas.microsoft.com/office/drawing/2014/main" id="{2DDE0C7D-CD6B-4623-AAC9-DA99F2AEB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2959" y="1600201"/>
            <a:ext cx="5114082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7324240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n-US" altLang="en-US" dirty="0"/>
              <a:t>Gazelles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412776"/>
            <a:ext cx="5486400" cy="5257799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Based on Birch’s definition – a gazelle is a firm that seeks rapid growth AND above average profitability – grows by at least 20%/ year for four years (from a modest $100,000 minimum starting point) – results in a </a:t>
            </a:r>
            <a:r>
              <a:rPr lang="en-US" altLang="en-US" sz="2000" i="1" dirty="0"/>
              <a:t>doubling in size in 4 years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2000" i="1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Often includes a radical business innovation/ implementation of new technology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Not all gazelles are young – many firms only “take-off” after a long period of gradual growth.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Why?  New opportunities in the marketplace, entrepreneurial management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000" dirty="0"/>
          </a:p>
        </p:txBody>
      </p:sp>
      <p:pic>
        <p:nvPicPr>
          <p:cNvPr id="4098" name="Picture 2" descr="Gazelle definition and meaning | Collins English Dictionary">
            <a:extLst>
              <a:ext uri="{FF2B5EF4-FFF2-40B4-BE49-F238E27FC236}">
                <a16:creationId xmlns:a16="http://schemas.microsoft.com/office/drawing/2014/main" id="{DA3EF8D9-433C-4794-B91A-BA129527D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97600" y="1776572"/>
            <a:ext cx="5384800" cy="4173220"/>
          </a:xfrm>
          <a:prstGeom prst="rect">
            <a:avLst/>
          </a:prstGeom>
          <a:solidFill>
            <a:srgbClr val="FFFFFF"/>
          </a:solidFill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3EFAA-774F-44B8-9432-BB30CECB9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Elephants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E4BD2-009D-4E9E-A929-ABCDAA9D221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 wrap="square" anchor="t">
            <a:normAutofit/>
          </a:bodyPr>
          <a:lstStyle/>
          <a:p>
            <a:r>
              <a:rPr lang="en-CA" sz="3000"/>
              <a:t>Large, mostly well-known firms – “Fortune 500</a:t>
            </a:r>
          </a:p>
          <a:p>
            <a:r>
              <a:rPr lang="en-CA" sz="3000"/>
              <a:t>Considerable overall marketplace power</a:t>
            </a:r>
          </a:p>
          <a:p>
            <a:r>
              <a:rPr lang="en-CA" sz="3000"/>
              <a:t>Difficult for them to change direction quickly</a:t>
            </a:r>
          </a:p>
          <a:p>
            <a:r>
              <a:rPr lang="en-CA" sz="3000"/>
              <a:t>Collectively, they have fired more people than they have hired in the past 25 year</a:t>
            </a:r>
          </a:p>
        </p:txBody>
      </p:sp>
      <p:pic>
        <p:nvPicPr>
          <p:cNvPr id="3074" name="Picture 2" descr="African elephant, female">
            <a:extLst>
              <a:ext uri="{FF2B5EF4-FFF2-40B4-BE49-F238E27FC236}">
                <a16:creationId xmlns:a16="http://schemas.microsoft.com/office/drawing/2014/main" id="{B4D3838A-BB85-4CAF-B576-BD969D7C31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197600" y="1600201"/>
            <a:ext cx="53848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722301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3850" y="4564828"/>
            <a:ext cx="8676222" cy="1066801"/>
          </a:xfrm>
        </p:spPr>
        <p:txBody>
          <a:bodyPr>
            <a:normAutofit/>
          </a:bodyPr>
          <a:lstStyle/>
          <a:p>
            <a:r>
              <a:rPr lang="en-GB" b="1" dirty="0"/>
              <a:t>Coach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3850" y="5644798"/>
            <a:ext cx="8676222" cy="1213202"/>
          </a:xfr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>
              <a:lnSpc>
                <a:spcPct val="90000"/>
              </a:lnSpc>
            </a:pPr>
            <a:r>
              <a:rPr lang="en-GB" sz="3300" dirty="0"/>
              <a:t>Case Study</a:t>
            </a:r>
          </a:p>
          <a:p>
            <a:pPr>
              <a:lnSpc>
                <a:spcPct val="90000"/>
              </a:lnSpc>
            </a:pPr>
            <a:r>
              <a:rPr lang="en-GB" sz="4400" b="1" dirty="0"/>
              <a:t>Why Gen Z Fell in Love with Coach</a:t>
            </a:r>
          </a:p>
          <a:p>
            <a:pPr>
              <a:lnSpc>
                <a:spcPct val="90000"/>
              </a:lnSpc>
            </a:pPr>
            <a:r>
              <a:rPr lang="en-CA" sz="3300" i="1" dirty="0"/>
              <a:t>Business, Society &amp; Wealth Creation</a:t>
            </a:r>
            <a:endParaRPr lang="en-GB" sz="3300" dirty="0"/>
          </a:p>
          <a:p>
            <a:pPr>
              <a:lnSpc>
                <a:spcPct val="90000"/>
              </a:lnSpc>
            </a:pPr>
            <a:br>
              <a:rPr lang="en-CA" sz="500" dirty="0"/>
            </a:br>
            <a:endParaRPr lang="en-GB" sz="500" dirty="0"/>
          </a:p>
        </p:txBody>
      </p:sp>
      <p:pic>
        <p:nvPicPr>
          <p:cNvPr id="9226" name="Picture 10" descr="Coach | Los Angeles | Beverly Center">
            <a:extLst>
              <a:ext uri="{FF2B5EF4-FFF2-40B4-BE49-F238E27FC236}">
                <a16:creationId xmlns:a16="http://schemas.microsoft.com/office/drawing/2014/main" id="{125C7CD7-A57B-EB1B-24A4-89B604BCD5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85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4955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6683-4978-24F0-AAC1-DE247DB94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1" y="-92331"/>
            <a:ext cx="10653578" cy="1132258"/>
          </a:xfrm>
        </p:spPr>
        <p:txBody>
          <a:bodyPr>
            <a:no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CNBC Video: </a:t>
            </a:r>
            <a:r>
              <a:rPr lang="en-GB" sz="2800" b="1" dirty="0">
                <a:solidFill>
                  <a:schemeClr val="bg1"/>
                </a:solidFill>
              </a:rPr>
              <a:t>Why Gen Z Fell in Love with Coach</a:t>
            </a:r>
          </a:p>
        </p:txBody>
      </p:sp>
      <p:pic>
        <p:nvPicPr>
          <p:cNvPr id="4" name="Online Media 3" descr="Why Gen Z Fell In Love With Coach">
            <a:hlinkClick r:id="" action="ppaction://media"/>
            <a:extLst>
              <a:ext uri="{FF2B5EF4-FFF2-40B4-BE49-F238E27FC236}">
                <a16:creationId xmlns:a16="http://schemas.microsoft.com/office/drawing/2014/main" id="{059883B0-1236-A21B-6DF2-49AB302CCE16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271464" y="876170"/>
            <a:ext cx="10050228" cy="55203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E20BEF-182E-26F1-8827-604CBCAAFCC0}"/>
              </a:ext>
            </a:extLst>
          </p:cNvPr>
          <p:cNvSpPr txBox="1"/>
          <p:nvPr/>
        </p:nvSpPr>
        <p:spPr>
          <a:xfrm>
            <a:off x="6993565" y="6392423"/>
            <a:ext cx="60977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>
                <a:hlinkClick r:id="rId5"/>
              </a:rPr>
              <a:t>https://www.youtube.com/watch?v=EFoUBRfwzWQ&amp;t=1s</a:t>
            </a:r>
            <a:r>
              <a:rPr lang="en-CA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9165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8DB83-0251-B11F-1C31-B166BAFFE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7889" y="5405261"/>
            <a:ext cx="8676222" cy="1066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400" b="1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What happened to Coach and why?</a:t>
            </a:r>
            <a:br>
              <a:rPr lang="en-US" sz="3400" b="1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</a:br>
            <a:endParaRPr lang="en-US" sz="3400" dirty="0"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pic>
        <p:nvPicPr>
          <p:cNvPr id="2050" name="Picture 2" descr="Coach Premium Outlet Edmonton Coach International Outlet On Sale">
            <a:extLst>
              <a:ext uri="{FF2B5EF4-FFF2-40B4-BE49-F238E27FC236}">
                <a16:creationId xmlns:a16="http://schemas.microsoft.com/office/drawing/2014/main" id="{64A0DB84-12B3-ED19-3E1B-A91A66D90E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/>
          <a:stretch>
            <a:fillRect/>
          </a:stretch>
        </p:blipFill>
        <p:spPr bwMode="auto">
          <a:xfrm>
            <a:off x="20" y="10"/>
            <a:ext cx="7574515" cy="4273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he Coach Originals | COACH®">
            <a:extLst>
              <a:ext uri="{FF2B5EF4-FFF2-40B4-BE49-F238E27FC236}">
                <a16:creationId xmlns:a16="http://schemas.microsoft.com/office/drawing/2014/main" id="{12761ED7-8665-9E86-D919-2FEFBF3A1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-3"/>
          <a:stretch>
            <a:fillRect/>
          </a:stretch>
        </p:blipFill>
        <p:spPr bwMode="auto">
          <a:xfrm>
            <a:off x="7574535" y="10"/>
            <a:ext cx="4617465" cy="4273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401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0CF08D4-5A2D-C553-BB1B-A5AF04CF3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098" y="609600"/>
            <a:ext cx="4798142" cy="36428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b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How did Coach reverse its decline in brand value?</a:t>
            </a:r>
            <a:br>
              <a:rPr lang="en-US" sz="4400" b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</a:br>
            <a:endParaRPr lang="en-US" sz="4400"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pic>
        <p:nvPicPr>
          <p:cNvPr id="4098" name="Picture 2" descr="The Rise of Coach, From A-List Runways to Vintage Bags - FASHION Magazine">
            <a:extLst>
              <a:ext uri="{FF2B5EF4-FFF2-40B4-BE49-F238E27FC236}">
                <a16:creationId xmlns:a16="http://schemas.microsoft.com/office/drawing/2014/main" id="{BBC13CF9-5021-442D-B590-8891474C4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-3"/>
          <a:stretch>
            <a:fillRect/>
          </a:stretch>
        </p:blipFill>
        <p:spPr bwMode="auto">
          <a:xfrm>
            <a:off x="80434" y="68343"/>
            <a:ext cx="3767328" cy="336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Designer Stuart Vevers is Transforming Coach Into a Fashion House - WSJ">
            <a:extLst>
              <a:ext uri="{FF2B5EF4-FFF2-40B4-BE49-F238E27FC236}">
                <a16:creationId xmlns:a16="http://schemas.microsoft.com/office/drawing/2014/main" id="{F9C8A4A9-F339-6A00-5173-82A7D8FF9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>
            <a:fillRect/>
          </a:stretch>
        </p:blipFill>
        <p:spPr bwMode="auto">
          <a:xfrm>
            <a:off x="7936" y="3509434"/>
            <a:ext cx="6098459" cy="3348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3A306AE9-82D3-1D15-194D-16BD0CF3F1C1}"/>
              </a:ext>
            </a:extLst>
          </p:cNvPr>
          <p:cNvSpPr/>
          <p:nvPr/>
        </p:nvSpPr>
        <p:spPr>
          <a:xfrm rot="19637897">
            <a:off x="7726709" y="4349998"/>
            <a:ext cx="2814918" cy="1667435"/>
          </a:xfrm>
          <a:prstGeom prst="rightArrow">
            <a:avLst/>
          </a:prstGeom>
          <a:solidFill>
            <a:srgbClr val="00B050">
              <a:alpha val="5814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FBAA58-9E7E-7797-B263-58CBF9FF32DE}"/>
              </a:ext>
            </a:extLst>
          </p:cNvPr>
          <p:cNvSpPr txBox="1"/>
          <p:nvPr/>
        </p:nvSpPr>
        <p:spPr>
          <a:xfrm>
            <a:off x="340659" y="3854824"/>
            <a:ext cx="1831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Stuart</a:t>
            </a:r>
            <a:r>
              <a:rPr lang="en-US" sz="2000" dirty="0"/>
              <a:t> </a:t>
            </a:r>
            <a:r>
              <a:rPr lang="en-US" sz="2000" b="1" dirty="0"/>
              <a:t>Vevers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A2E405-D0A0-E796-DB12-8BB71F22E81E}"/>
              </a:ext>
            </a:extLst>
          </p:cNvPr>
          <p:cNvSpPr txBox="1"/>
          <p:nvPr/>
        </p:nvSpPr>
        <p:spPr>
          <a:xfrm>
            <a:off x="5017295" y="6334581"/>
            <a:ext cx="1831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2013</a:t>
            </a:r>
          </a:p>
        </p:txBody>
      </p:sp>
    </p:spTree>
    <p:extLst>
      <p:ext uri="{BB962C8B-B14F-4D97-AF65-F5344CB8AC3E}">
        <p14:creationId xmlns:p14="http://schemas.microsoft.com/office/powerpoint/2010/main" val="4771476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4BC8ABF-9A46-1864-B13F-60AC74EE51F2}"/>
              </a:ext>
            </a:extLst>
          </p:cNvPr>
          <p:cNvSpPr txBox="1">
            <a:spLocks/>
          </p:cNvSpPr>
          <p:nvPr/>
        </p:nvSpPr>
        <p:spPr>
          <a:xfrm>
            <a:off x="5317066" y="609600"/>
            <a:ext cx="5782733" cy="36240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4800" b="1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How did Gen Z engagement drive sales growth?</a:t>
            </a:r>
            <a:endParaRPr lang="en-US" sz="4800" dirty="0"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pic>
        <p:nvPicPr>
          <p:cNvPr id="6146" name="Picture 2" descr="Megan Thee Stallion's New Coach Campaign Brings on the Nostalgia">
            <a:extLst>
              <a:ext uri="{FF2B5EF4-FFF2-40B4-BE49-F238E27FC236}">
                <a16:creationId xmlns:a16="http://schemas.microsoft.com/office/drawing/2014/main" id="{B04BD5A2-D2D6-B712-291C-ACC9D22665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7590" y="4156582"/>
            <a:ext cx="4072270" cy="2510033"/>
          </a:xfrm>
          <a:prstGeom prst="rect">
            <a:avLst/>
          </a:prstGeom>
          <a:noFill/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4E26FA-CFA7-8748-1FDA-579096C0FB39}"/>
              </a:ext>
            </a:extLst>
          </p:cNvPr>
          <p:cNvSpPr txBox="1"/>
          <p:nvPr/>
        </p:nvSpPr>
        <p:spPr>
          <a:xfrm>
            <a:off x="447474" y="4387217"/>
            <a:ext cx="3173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Megan Thee Stallion</a:t>
            </a:r>
          </a:p>
        </p:txBody>
      </p:sp>
      <p:pic>
        <p:nvPicPr>
          <p:cNvPr id="6154" name="Picture 10" descr="Y2K (2024 film) | Logopedia | Fandom">
            <a:extLst>
              <a:ext uri="{FF2B5EF4-FFF2-40B4-BE49-F238E27FC236}">
                <a16:creationId xmlns:a16="http://schemas.microsoft.com/office/drawing/2014/main" id="{D1E21BE2-839F-AD5E-0112-920CE3C43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991" y="4955585"/>
            <a:ext cx="2629999" cy="84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TikTok logo transparent image download, size: 428x428px">
            <a:extLst>
              <a:ext uri="{FF2B5EF4-FFF2-40B4-BE49-F238E27FC236}">
                <a16:creationId xmlns:a16="http://schemas.microsoft.com/office/drawing/2014/main" id="{E642B9CD-40FC-1BEF-45FF-665992A32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8700" y="4779040"/>
            <a:ext cx="1193800" cy="119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 descr="Instagram logo png, Instagram icon transparent 18930415 PNG">
            <a:extLst>
              <a:ext uri="{FF2B5EF4-FFF2-40B4-BE49-F238E27FC236}">
                <a16:creationId xmlns:a16="http://schemas.microsoft.com/office/drawing/2014/main" id="{96A509FA-6AE4-E1B9-6866-163EBCFB0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813" y="4347967"/>
            <a:ext cx="2055945" cy="205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4FD06E2-A924-5034-A7E6-34DB5B5FE3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7590" y="191385"/>
            <a:ext cx="3580763" cy="3732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3B658D-0E0F-C3F9-8407-D65A83F81720}"/>
              </a:ext>
            </a:extLst>
          </p:cNvPr>
          <p:cNvSpPr txBox="1"/>
          <p:nvPr/>
        </p:nvSpPr>
        <p:spPr>
          <a:xfrm>
            <a:off x="331077" y="3383907"/>
            <a:ext cx="2761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bg1"/>
                </a:solidFill>
              </a:rPr>
              <a:t>Lil Nas X</a:t>
            </a:r>
          </a:p>
        </p:txBody>
      </p:sp>
    </p:spTree>
    <p:extLst>
      <p:ext uri="{BB962C8B-B14F-4D97-AF65-F5344CB8AC3E}">
        <p14:creationId xmlns:p14="http://schemas.microsoft.com/office/powerpoint/2010/main" val="40982047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09D9B13-AEC8-0C31-106E-A4AB96977DA1}"/>
              </a:ext>
            </a:extLst>
          </p:cNvPr>
          <p:cNvSpPr txBox="1">
            <a:spLocks/>
          </p:cNvSpPr>
          <p:nvPr/>
        </p:nvSpPr>
        <p:spPr>
          <a:xfrm>
            <a:off x="1679438" y="4972601"/>
            <a:ext cx="8676222" cy="10668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400" b="1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How did product and pricing strategy support accessible luxury?</a:t>
            </a:r>
            <a:endParaRPr lang="en-US" sz="3400" dirty="0"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pic>
        <p:nvPicPr>
          <p:cNvPr id="7172" name="Picture 4" descr="Coach Tabby 20 Shoulder Bag | Brown | FARFETCH CA">
            <a:extLst>
              <a:ext uri="{FF2B5EF4-FFF2-40B4-BE49-F238E27FC236}">
                <a16:creationId xmlns:a16="http://schemas.microsoft.com/office/drawing/2014/main" id="{1BFBF763-23BF-D0D4-ECDE-4D2C3E634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2578" y="721494"/>
            <a:ext cx="2366844" cy="3155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Brass/Maple Rogue Bag 39">
            <a:extLst>
              <a:ext uri="{FF2B5EF4-FFF2-40B4-BE49-F238E27FC236}">
                <a16:creationId xmlns:a16="http://schemas.microsoft.com/office/drawing/2014/main" id="{545A1EF7-C7AD-5E43-0470-39B6C105C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00202" y="721494"/>
            <a:ext cx="2523744" cy="3154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Brass/Sage Brooklyn Shoulder Bag 39">
            <a:extLst>
              <a:ext uri="{FF2B5EF4-FFF2-40B4-BE49-F238E27FC236}">
                <a16:creationId xmlns:a16="http://schemas.microsoft.com/office/drawing/2014/main" id="{30C722BA-1500-C475-FCA1-320B16F4C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33641" y="721494"/>
            <a:ext cx="2523744" cy="3154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EC9B71-36AE-134F-D8A9-E5FACBCBF591}"/>
              </a:ext>
            </a:extLst>
          </p:cNvPr>
          <p:cNvSpPr txBox="1"/>
          <p:nvPr/>
        </p:nvSpPr>
        <p:spPr>
          <a:xfrm>
            <a:off x="1168052" y="3968885"/>
            <a:ext cx="2732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BROOKLYN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CA559B-0C31-E9DF-AF5B-3AD5D08A9B11}"/>
              </a:ext>
            </a:extLst>
          </p:cNvPr>
          <p:cNvSpPr txBox="1"/>
          <p:nvPr/>
        </p:nvSpPr>
        <p:spPr>
          <a:xfrm>
            <a:off x="4834127" y="3968885"/>
            <a:ext cx="2366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TABBY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FB1CB7-28E0-2F07-039E-9CD766A3A85F}"/>
              </a:ext>
            </a:extLst>
          </p:cNvPr>
          <p:cNvSpPr txBox="1"/>
          <p:nvPr/>
        </p:nvSpPr>
        <p:spPr>
          <a:xfrm>
            <a:off x="8500202" y="3931882"/>
            <a:ext cx="2523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ROGUE</a:t>
            </a:r>
          </a:p>
        </p:txBody>
      </p:sp>
    </p:spTree>
    <p:extLst>
      <p:ext uri="{BB962C8B-B14F-4D97-AF65-F5344CB8AC3E}">
        <p14:creationId xmlns:p14="http://schemas.microsoft.com/office/powerpoint/2010/main" val="41011795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D1D9-C677-9883-F9D3-44F69932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098" y="609600"/>
            <a:ext cx="4798142" cy="36428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What role did leadership changes play in Coach’s turnaround?</a:t>
            </a:r>
            <a:endParaRPr lang="en-US" sz="4800" dirty="0"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62398B-561A-4F45-7FAC-5029731B2889}"/>
              </a:ext>
            </a:extLst>
          </p:cNvPr>
          <p:cNvSpPr txBox="1"/>
          <p:nvPr/>
        </p:nvSpPr>
        <p:spPr>
          <a:xfrm>
            <a:off x="4346270" y="6332546"/>
            <a:ext cx="1841879" cy="38723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US" sz="2100" b="1" i="1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Todd Kahn</a:t>
            </a:r>
          </a:p>
        </p:txBody>
      </p:sp>
      <p:pic>
        <p:nvPicPr>
          <p:cNvPr id="5122" name="Picture 2" descr="Company – Tapestry">
            <a:extLst>
              <a:ext uri="{FF2B5EF4-FFF2-40B4-BE49-F238E27FC236}">
                <a16:creationId xmlns:a16="http://schemas.microsoft.com/office/drawing/2014/main" id="{BBC14F17-0B07-9887-4091-AA11C1B0D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701410"/>
            <a:ext cx="5462001" cy="5462001"/>
          </a:xfrm>
          <a:prstGeom prst="roundRect">
            <a:avLst>
              <a:gd name="adj" fmla="val 3517"/>
            </a:avLst>
          </a:prstGeom>
          <a:noFill/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29509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0617" y="0"/>
            <a:ext cx="818271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103426" name="Title 1"/>
          <p:cNvSpPr>
            <a:spLocks noGrp="1"/>
          </p:cNvSpPr>
          <p:nvPr>
            <p:ph type="ctrTitle"/>
          </p:nvPr>
        </p:nvSpPr>
        <p:spPr>
          <a:xfrm>
            <a:off x="3808027" y="2043664"/>
            <a:ext cx="4578895" cy="2031055"/>
          </a:xfrm>
        </p:spPr>
        <p:txBody>
          <a:bodyPr>
            <a:normAutofit/>
          </a:bodyPr>
          <a:lstStyle/>
          <a:p>
            <a:r>
              <a:rPr lang="en-CA" altLang="en-US">
                <a:solidFill>
                  <a:srgbClr val="FFFFFF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0617" y="0"/>
            <a:ext cx="818271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103426" name="Title 1"/>
          <p:cNvSpPr>
            <a:spLocks noGrp="1"/>
          </p:cNvSpPr>
          <p:nvPr>
            <p:ph type="ctrTitle"/>
          </p:nvPr>
        </p:nvSpPr>
        <p:spPr>
          <a:xfrm>
            <a:off x="3808027" y="2043664"/>
            <a:ext cx="4578895" cy="2031055"/>
          </a:xfrm>
        </p:spPr>
        <p:txBody>
          <a:bodyPr>
            <a:normAutofit/>
          </a:bodyPr>
          <a:lstStyle/>
          <a:p>
            <a:r>
              <a:rPr lang="en-CA" altLang="en-US" dirty="0">
                <a:solidFill>
                  <a:srgbClr val="FFFFFF"/>
                </a:solidFill>
              </a:rPr>
              <a:t>Self Study</a:t>
            </a:r>
          </a:p>
        </p:txBody>
      </p:sp>
    </p:spTree>
    <p:extLst>
      <p:ext uri="{BB962C8B-B14F-4D97-AF65-F5344CB8AC3E}">
        <p14:creationId xmlns:p14="http://schemas.microsoft.com/office/powerpoint/2010/main" val="14787826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F7140-F0CE-6642-A39B-1790F09B5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700"/>
              <a:t>What is a Small Business?</a:t>
            </a:r>
            <a:br>
              <a:rPr lang="en-US" altLang="en-US" sz="3700" b="1"/>
            </a:br>
            <a:endParaRPr lang="ru-RU" sz="3700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3FC4BD8C-91F8-4AA3-8F04-05EC53C2FD4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72523874"/>
              </p:ext>
            </p:extLst>
          </p:nvPr>
        </p:nvGraphicFramePr>
        <p:xfrm>
          <a:off x="609600" y="1600201"/>
          <a:ext cx="5384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50" name="Picture 2" descr="5 Ways to Support Small Business Saturday - Workest">
            <a:extLst>
              <a:ext uri="{FF2B5EF4-FFF2-40B4-BE49-F238E27FC236}">
                <a16:creationId xmlns:a16="http://schemas.microsoft.com/office/drawing/2014/main" id="{781A04BE-57F3-49D5-A2D4-35643EFE2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5749" y="2291728"/>
            <a:ext cx="5552029" cy="3120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86959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9EDDC847-2FDA-0243-A9BD-0E7C91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n-US" altLang="en-US"/>
              <a:t>Most Businesses are Small Businesses</a:t>
            </a:r>
            <a:endParaRPr lang="ru-RU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565F3B4-6518-4C93-AC2C-A2230E686371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018" y="1600201"/>
            <a:ext cx="4525963" cy="4525963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F8C6E4AF-708F-1B4D-80AE-D6C8D9857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 wrap="square" anchor="t">
            <a:normAutofit/>
          </a:bodyPr>
          <a:lstStyle/>
          <a:p>
            <a:pPr eaLnBrk="1" hangingPunct="1"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/>
              <a:t>Approximately 97% of Canadian firms have fewer than 100 employees on staff</a:t>
            </a:r>
          </a:p>
          <a:p>
            <a:pPr marL="342900" lvl="1" indent="-342900" eaLnBrk="1" hangingPunct="1"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 sz="2800"/>
              <a:t>Canada has approximately 2.7 million self-employed individuals</a:t>
            </a:r>
          </a:p>
          <a:p>
            <a:pPr eaLnBrk="1" hangingPunct="1"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/>
              <a:t>Small businesses are a launching pad for entrepreneurs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7028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CE1DF-0D0C-B348-9237-917A1D827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700"/>
              <a:t>Contributions of Small Business to the Economy</a:t>
            </a:r>
            <a:br>
              <a:rPr lang="en-US" altLang="en-US" sz="3700" b="1"/>
            </a:br>
            <a:endParaRPr lang="ru-RU" sz="370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398D3A7-42A3-45F7-91DD-832D2FEB2DAD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018" y="1600201"/>
            <a:ext cx="4525963" cy="4525963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B15DC005-BAC6-024A-B0E5-E3FFD0747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 wrap="square" anchor="t">
            <a:normAutofit/>
          </a:bodyPr>
          <a:lstStyle/>
          <a:p>
            <a:pPr eaLnBrk="1" hangingPunct="1"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/>
              <a:t>Create New Jobs</a:t>
            </a:r>
          </a:p>
          <a:p>
            <a:pPr marL="342900" lvl="1" indent="-342900" eaLnBrk="1" hangingPunct="1"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 sz="2800"/>
              <a:t>Account for more than 29% of the GDP</a:t>
            </a:r>
          </a:p>
          <a:p>
            <a:pPr marL="342900" lvl="1" indent="-342900" eaLnBrk="1" hangingPunct="1"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 sz="2800"/>
              <a:t>Offer Customized Services</a:t>
            </a:r>
          </a:p>
          <a:p>
            <a:pPr marL="342900" lvl="1" indent="-342900" eaLnBrk="1" hangingPunct="1"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 sz="2800"/>
              <a:t>Create New Industries</a:t>
            </a:r>
          </a:p>
          <a:p>
            <a:pPr eaLnBrk="1" hangingPunct="1"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/>
              <a:t>Encourage Innovation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4685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0544" y="450222"/>
            <a:ext cx="3301783" cy="3918123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BDB3BC-FE50-5F4E-8AD8-ADAFC6FA9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025" y="762000"/>
            <a:ext cx="2819400" cy="3340100"/>
          </a:xfr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l" eaLnBrk="1" hangingPunct="1">
              <a:lnSpc>
                <a:spcPct val="90000"/>
              </a:lnSpc>
            </a:pPr>
            <a:r>
              <a:rPr lang="en-US" alt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Typical Small-Business Ventures</a:t>
            </a:r>
            <a:br>
              <a:rPr lang="en-US" alt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86B68C-84BC-4A6E-99D1-EE87483C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0711" y="450222"/>
            <a:ext cx="1586592" cy="1898903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1BE1B87-A4E8-478B-B1AF-6607F86A3C45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626" y="2715062"/>
            <a:ext cx="1428753" cy="142875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68190" y="4521270"/>
            <a:ext cx="5023144" cy="1877811"/>
          </a:xfrm>
          <a:prstGeom prst="rect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091803-41C2-48E0-9228-5148460C7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7563" y="450221"/>
            <a:ext cx="3316246" cy="5948858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5CF545-97F5-4C4F-A1F9-832ED36DD6FF}"/>
              </a:ext>
            </a:extLst>
          </p:cNvPr>
          <p:cNvSpPr txBox="1"/>
          <p:nvPr/>
        </p:nvSpPr>
        <p:spPr>
          <a:xfrm>
            <a:off x="7235916" y="458921"/>
            <a:ext cx="3085541" cy="540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1" eaLnBrk="1" hangingPunct="1">
              <a:lnSpc>
                <a:spcPct val="90000"/>
              </a:lnSpc>
              <a:spcAft>
                <a:spcPts val="600"/>
              </a:spcAft>
              <a:buClr>
                <a:srgbClr val="136DB6"/>
              </a:buClr>
              <a:buSzPct val="65000"/>
              <a:defRPr/>
            </a:pPr>
            <a:r>
              <a:rPr lang="en-US" u="sng" dirty="0">
                <a:latin typeface="+mn-lt"/>
              </a:rPr>
              <a:t>Benefits</a:t>
            </a:r>
          </a:p>
          <a:p>
            <a:pPr marL="471488" lvl="1" indent="-342900" eaLnBrk="1" hangingPunct="1">
              <a:lnSpc>
                <a:spcPct val="90000"/>
              </a:lnSpc>
              <a:spcAft>
                <a:spcPts val="600"/>
              </a:spcAft>
              <a:buClr>
                <a:srgbClr val="136DB6"/>
              </a:buClr>
              <a:buSzPct val="65000"/>
              <a:buFont typeface="+mj-lt"/>
              <a:buAutoNum type="arabicPeriod"/>
              <a:defRPr/>
            </a:pPr>
            <a:r>
              <a:rPr lang="en-US" dirty="0">
                <a:latin typeface="+mn-lt"/>
              </a:rPr>
              <a:t>Allows for more control of business</a:t>
            </a:r>
          </a:p>
          <a:p>
            <a:pPr marL="471488" lvl="1" indent="-342900" eaLnBrk="1" hangingPunct="1">
              <a:lnSpc>
                <a:spcPct val="90000"/>
              </a:lnSpc>
              <a:spcAft>
                <a:spcPts val="600"/>
              </a:spcAft>
              <a:buClr>
                <a:srgbClr val="136DB6"/>
              </a:buClr>
              <a:buSzPct val="65000"/>
              <a:buFont typeface="+mj-lt"/>
              <a:buAutoNum type="arabicPeriod"/>
              <a:defRPr/>
            </a:pPr>
            <a:r>
              <a:rPr lang="en-US" dirty="0">
                <a:latin typeface="+mn-lt"/>
              </a:rPr>
              <a:t>Allows for more control of personal time</a:t>
            </a:r>
          </a:p>
          <a:p>
            <a:pPr marL="471488" lvl="1" indent="-342900" eaLnBrk="1" hangingPunct="1">
              <a:lnSpc>
                <a:spcPct val="90000"/>
              </a:lnSpc>
              <a:spcAft>
                <a:spcPts val="600"/>
              </a:spcAft>
              <a:buClr>
                <a:srgbClr val="136DB6"/>
              </a:buClr>
              <a:buSzPct val="65000"/>
              <a:buFont typeface="+mj-lt"/>
              <a:buAutoNum type="arabicPeriod"/>
              <a:defRPr/>
            </a:pPr>
            <a:r>
              <a:rPr lang="en-US" dirty="0">
                <a:latin typeface="+mn-lt"/>
              </a:rPr>
              <a:t>Keeps startup and operating expenses low</a:t>
            </a:r>
          </a:p>
          <a:p>
            <a:pPr marL="0" lvl="1" eaLnBrk="1" hangingPunct="1">
              <a:lnSpc>
                <a:spcPct val="90000"/>
              </a:lnSpc>
              <a:spcAft>
                <a:spcPts val="600"/>
              </a:spcAft>
              <a:buClr>
                <a:srgbClr val="136DB6"/>
              </a:buClr>
              <a:buSzPct val="65000"/>
              <a:defRPr/>
            </a:pPr>
            <a:r>
              <a:rPr lang="en-US" u="sng" dirty="0">
                <a:latin typeface="+mn-lt"/>
              </a:rPr>
              <a:t>Drawbacks</a:t>
            </a:r>
          </a:p>
          <a:p>
            <a:pPr marL="114300" indent="-342900" eaLnBrk="1" hangingPunct="1">
              <a:lnSpc>
                <a:spcPct val="90000"/>
              </a:lnSpc>
              <a:spcAft>
                <a:spcPts val="600"/>
              </a:spcAft>
              <a:buClr>
                <a:srgbClr val="136DB6"/>
              </a:buClr>
              <a:buSzPct val="65000"/>
              <a:buFont typeface="+mj-lt"/>
              <a:buAutoNum type="arabicPeriod"/>
              <a:defRPr/>
            </a:pPr>
            <a:r>
              <a:rPr lang="en-US" dirty="0">
                <a:latin typeface="+mn-lt"/>
              </a:rPr>
              <a:t>Owner can feel isolated</a:t>
            </a:r>
          </a:p>
          <a:p>
            <a:pPr marL="114300" indent="-342900" eaLnBrk="1" hangingPunct="1">
              <a:lnSpc>
                <a:spcPct val="90000"/>
              </a:lnSpc>
              <a:spcAft>
                <a:spcPts val="600"/>
              </a:spcAft>
              <a:buClr>
                <a:srgbClr val="136DB6"/>
              </a:buClr>
              <a:buSzPct val="65000"/>
              <a:buFont typeface="+mj-lt"/>
              <a:buAutoNum type="arabicPeriod"/>
              <a:defRPr/>
            </a:pPr>
            <a:r>
              <a:rPr lang="en-US" dirty="0">
                <a:latin typeface="+mn-lt"/>
              </a:rPr>
              <a:t>Business has less visibility to customers</a:t>
            </a:r>
          </a:p>
          <a:p>
            <a:pPr indent="-228600" eaLnBrk="1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F0E816-A7AD-4C48-9DF3-DB8EF9FF8DA4}"/>
              </a:ext>
            </a:extLst>
          </p:cNvPr>
          <p:cNvSpPr txBox="1"/>
          <p:nvPr/>
        </p:nvSpPr>
        <p:spPr>
          <a:xfrm>
            <a:off x="2248995" y="4806785"/>
            <a:ext cx="3842719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Home-Based Business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7861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F62383-9E22-C241-8B94-37FE1E8A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700"/>
              <a:t>Public (Government) Ownership of Business</a:t>
            </a:r>
            <a:br>
              <a:rPr lang="en-US" altLang="en-US" sz="3700" b="1"/>
            </a:br>
            <a:endParaRPr lang="ru-RU" sz="3700"/>
          </a:p>
        </p:txBody>
      </p:sp>
      <p:graphicFrame>
        <p:nvGraphicFramePr>
          <p:cNvPr id="13" name="Объект 2">
            <a:extLst>
              <a:ext uri="{FF2B5EF4-FFF2-40B4-BE49-F238E27FC236}">
                <a16:creationId xmlns:a16="http://schemas.microsoft.com/office/drawing/2014/main" id="{01EE6611-62BE-4C17-87BA-7D8D9A1A1C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8117391"/>
              </p:ext>
            </p:extLst>
          </p:nvPr>
        </p:nvGraphicFramePr>
        <p:xfrm>
          <a:off x="609600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019470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D8EB95-E8DF-6D4E-8B62-6E01D524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n-US" altLang="en-US"/>
              <a:t>Organizing a Corporation</a:t>
            </a:r>
            <a:endParaRPr lang="ru-RU"/>
          </a:p>
        </p:txBody>
      </p:sp>
      <p:pic>
        <p:nvPicPr>
          <p:cNvPr id="4" name="Picture 13" descr="Изображение выглядит как снимок экрана&#10;&#10;&#10;&#10;Описание создано автоматически">
            <a:extLst>
              <a:ext uri="{FF2B5EF4-FFF2-40B4-BE49-F238E27FC236}">
                <a16:creationId xmlns:a16="http://schemas.microsoft.com/office/drawing/2014/main" id="{C97D0DE2-00FD-0148-9EBE-A2B5FB78C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52749" y="1600201"/>
            <a:ext cx="3698501" cy="4525963"/>
          </a:xfrm>
          <a:prstGeom prst="rect">
            <a:avLst/>
          </a:prstGeo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BC973A46-4EC9-664E-B2D4-C6F75F61E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 wrap="square" anchor="t">
            <a:normAutofit/>
          </a:bodyPr>
          <a:lstStyle/>
          <a:p>
            <a:pPr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/>
              <a:t>Most small businesses are incorporated in the provinces where they operate, but they may choose to incorporate in any province </a:t>
            </a:r>
          </a:p>
          <a:p>
            <a:pPr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/>
              <a:t>Incorporation can be done at the federal or provincial level</a:t>
            </a:r>
          </a:p>
          <a:p>
            <a:pPr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</a:pPr>
            <a:r>
              <a:rPr lang="en-US" altLang="en-US"/>
              <a:t>Information in the </a:t>
            </a:r>
            <a:r>
              <a:rPr lang="en-US" altLang="en-US" i="1"/>
              <a:t>articles of incorporation</a:t>
            </a:r>
            <a:r>
              <a:rPr lang="en-US" altLang="en-US"/>
              <a:t> (right) forms the basis on which a government grants  a </a:t>
            </a:r>
            <a:r>
              <a:rPr lang="en-US" altLang="en-US" i="1"/>
              <a:t>corporate charter</a:t>
            </a:r>
          </a:p>
          <a:p>
            <a:pPr>
              <a:lnSpc>
                <a:spcPct val="90000"/>
              </a:lnSpc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749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n-CA" altLang="en-US"/>
              <a:t>Who will create wealth?</a:t>
            </a:r>
            <a:endParaRPr lang="en-US" altLang="en-US"/>
          </a:p>
        </p:txBody>
      </p:sp>
      <p:sp>
        <p:nvSpPr>
          <p:cNvPr id="18435" name="Conten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CA" altLang="en-US" sz="2500"/>
              <a:t>Entrepreneurs</a:t>
            </a:r>
          </a:p>
          <a:p>
            <a:pPr lvl="1">
              <a:lnSpc>
                <a:spcPct val="90000"/>
              </a:lnSpc>
            </a:pPr>
            <a:r>
              <a:rPr lang="en-CA" altLang="en-US" sz="2500"/>
              <a:t>From sole proprietors to public companies</a:t>
            </a:r>
          </a:p>
          <a:p>
            <a:pPr lvl="1">
              <a:lnSpc>
                <a:spcPct val="90000"/>
              </a:lnSpc>
            </a:pPr>
            <a:endParaRPr lang="en-CA" altLang="en-US" sz="2500"/>
          </a:p>
          <a:p>
            <a:pPr>
              <a:lnSpc>
                <a:spcPct val="90000"/>
              </a:lnSpc>
            </a:pPr>
            <a:r>
              <a:rPr lang="en-CA" altLang="en-US" sz="2500"/>
              <a:t>SME (small and medium sized enterprises)</a:t>
            </a:r>
          </a:p>
          <a:p>
            <a:pPr>
              <a:lnSpc>
                <a:spcPct val="90000"/>
              </a:lnSpc>
            </a:pPr>
            <a:endParaRPr lang="en-CA" altLang="en-US" sz="2500"/>
          </a:p>
          <a:p>
            <a:pPr>
              <a:lnSpc>
                <a:spcPct val="90000"/>
              </a:lnSpc>
            </a:pPr>
            <a:r>
              <a:rPr lang="en-CA" altLang="en-US" sz="2500"/>
              <a:t>Large corporations</a:t>
            </a:r>
          </a:p>
          <a:p>
            <a:pPr lvl="1">
              <a:lnSpc>
                <a:spcPct val="90000"/>
              </a:lnSpc>
            </a:pPr>
            <a:r>
              <a:rPr lang="en-CA" altLang="en-US" sz="2500"/>
              <a:t>Private and public</a:t>
            </a:r>
          </a:p>
          <a:p>
            <a:pPr lvl="1">
              <a:lnSpc>
                <a:spcPct val="90000"/>
              </a:lnSpc>
            </a:pPr>
            <a:endParaRPr lang="en-CA" altLang="en-US" sz="2500"/>
          </a:p>
          <a:p>
            <a:pPr>
              <a:lnSpc>
                <a:spcPct val="90000"/>
              </a:lnSpc>
            </a:pPr>
            <a:r>
              <a:rPr lang="en-CA" altLang="en-US" sz="2500"/>
              <a:t>Government institutions</a:t>
            </a:r>
            <a:endParaRPr lang="en-US" altLang="en-US" sz="2500"/>
          </a:p>
        </p:txBody>
      </p:sp>
      <p:pic>
        <p:nvPicPr>
          <p:cNvPr id="71" name="Graphic 70">
            <a:extLst>
              <a:ext uri="{FF2B5EF4-FFF2-40B4-BE49-F238E27FC236}">
                <a16:creationId xmlns:a16="http://schemas.microsoft.com/office/drawing/2014/main" id="{EA9E3431-4859-402E-8E47-88700436651E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7018" y="1600201"/>
            <a:ext cx="4525963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n-CA" altLang="en-US" sz="4100"/>
              <a:t>Who will help?  Assistance for Small Business</a:t>
            </a:r>
            <a:endParaRPr lang="en-US" altLang="en-US" sz="4100"/>
          </a:p>
        </p:txBody>
      </p:sp>
      <p:sp>
        <p:nvSpPr>
          <p:cNvPr id="73731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CA" altLang="en-US" sz="2200"/>
              <a:t>Investors (angels, venture capitalists, banks, government, etc.)</a:t>
            </a:r>
          </a:p>
          <a:p>
            <a:pPr>
              <a:lnSpc>
                <a:spcPct val="90000"/>
              </a:lnSpc>
            </a:pPr>
            <a:r>
              <a:rPr lang="en-CA" altLang="en-US" sz="2200"/>
              <a:t>Local, provincial, national governments</a:t>
            </a:r>
          </a:p>
          <a:p>
            <a:pPr lvl="1">
              <a:lnSpc>
                <a:spcPct val="90000"/>
              </a:lnSpc>
            </a:pPr>
            <a:r>
              <a:rPr lang="en-CA" altLang="en-US" sz="2200"/>
              <a:t>Supply infrastructure, tax incentives, etc.</a:t>
            </a:r>
          </a:p>
          <a:p>
            <a:pPr>
              <a:lnSpc>
                <a:spcPct val="90000"/>
              </a:lnSpc>
            </a:pPr>
            <a:r>
              <a:rPr lang="en-US" altLang="en-US" sz="2200"/>
              <a:t>Business development bank of Canada is a place where only entrepreneurs can get money, advice, expertise</a:t>
            </a:r>
          </a:p>
          <a:p>
            <a:pPr lvl="1">
              <a:lnSpc>
                <a:spcPct val="90000"/>
              </a:lnSpc>
            </a:pPr>
            <a:r>
              <a:rPr lang="en-US" altLang="en-US" sz="2200">
                <a:hlinkClick r:id="rId3"/>
              </a:rPr>
              <a:t>http://www.bdc.ca/EN/Pages/home.aspx</a:t>
            </a:r>
            <a:endParaRPr lang="en-US" altLang="en-US" sz="2200"/>
          </a:p>
          <a:p>
            <a:pPr lvl="1">
              <a:lnSpc>
                <a:spcPct val="90000"/>
              </a:lnSpc>
            </a:pPr>
            <a:endParaRPr lang="en-US" altLang="en-US" sz="2200"/>
          </a:p>
          <a:p>
            <a:pPr>
              <a:lnSpc>
                <a:spcPct val="90000"/>
              </a:lnSpc>
            </a:pPr>
            <a:endParaRPr lang="en-US" altLang="en-US" sz="2200"/>
          </a:p>
        </p:txBody>
      </p:sp>
      <p:pic>
        <p:nvPicPr>
          <p:cNvPr id="71" name="Graphic 70">
            <a:extLst>
              <a:ext uri="{FF2B5EF4-FFF2-40B4-BE49-F238E27FC236}">
                <a16:creationId xmlns:a16="http://schemas.microsoft.com/office/drawing/2014/main" id="{27283435-7B61-4BD3-9ACD-187CE8EFDD23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7018" y="1600201"/>
            <a:ext cx="4525963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6B2C5A-6EA9-064E-BD2A-6106DE29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700"/>
              <a:t>Assistance for Small Businesses  </a:t>
            </a:r>
            <a:br>
              <a:rPr lang="en-US" altLang="en-US" sz="3700" b="1"/>
            </a:br>
            <a:endParaRPr lang="ru-RU" sz="37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BFE9DE-96A2-574E-9ADC-6F2AF874DD3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 wrap="square" anchor="t">
            <a:normAutofit/>
          </a:bodyPr>
          <a:lstStyle/>
          <a:p>
            <a:pPr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  <a:defRPr/>
            </a:pPr>
            <a:r>
              <a:rPr lang="en-US" altLang="en-US" sz="2000" dirty="0"/>
              <a:t>When a bank loans money to a small business and it is not paid back, the government will guarantee payment of 85% of the loan if the loan applicant had successfully applied to the Canada Small Business Financing Program</a:t>
            </a:r>
          </a:p>
          <a:p>
            <a:pPr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Ø"/>
              <a:defRPr/>
            </a:pPr>
            <a:r>
              <a:rPr lang="en-US" altLang="en-US" sz="2000" dirty="0"/>
              <a:t>Business Incubators</a:t>
            </a:r>
          </a:p>
          <a:p>
            <a:pPr marL="630238" lvl="1" indent="-273050" eaLnBrk="1" hangingPunct="1">
              <a:lnSpc>
                <a:spcPct val="90000"/>
              </a:lnSpc>
              <a:buClr>
                <a:srgbClr val="136DB6"/>
              </a:buClr>
              <a:buSzPct val="65000"/>
              <a:buFont typeface="Wingdings" panose="05000000000000000000" pitchFamily="2" charset="2"/>
              <a:buChar char="§"/>
              <a:defRPr/>
            </a:pPr>
            <a:r>
              <a:rPr lang="en-US" altLang="en-US" sz="2000" dirty="0"/>
              <a:t>Local community initiatives to share resources for small startups. The Canadian Association of Business Incubators is a national association of member organizations</a:t>
            </a:r>
          </a:p>
          <a:p>
            <a:pPr lvl="1" indent="-385763" eaLnBrk="1" hangingPunct="1">
              <a:lnSpc>
                <a:spcPct val="90000"/>
              </a:lnSpc>
              <a:buClr>
                <a:srgbClr val="136DB6"/>
              </a:buClr>
              <a:buSzPct val="65000"/>
              <a:buNone/>
              <a:defRPr/>
            </a:pPr>
            <a:r>
              <a:rPr lang="en-US" altLang="en-US" sz="2000" dirty="0">
                <a:hlinkClick r:id="rId3"/>
              </a:rPr>
              <a:t>Canadian Acceleration and Business Incubation</a:t>
            </a:r>
            <a:endParaRPr lang="ru-RU" sz="2000" dirty="0"/>
          </a:p>
        </p:txBody>
      </p:sp>
      <p:pic>
        <p:nvPicPr>
          <p:cNvPr id="5122" name="Picture 2" descr="COVID-19: Support Grants for Ontario Small Businesses">
            <a:extLst>
              <a:ext uri="{FF2B5EF4-FFF2-40B4-BE49-F238E27FC236}">
                <a16:creationId xmlns:a16="http://schemas.microsoft.com/office/drawing/2014/main" id="{CADB2935-282C-4DB6-A374-60D963FA45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 bwMode="auto">
          <a:xfrm>
            <a:off x="6197600" y="1600201"/>
            <a:ext cx="53848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44751613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3.xml><?xml version="1.0" encoding="utf-8"?>
<a:theme xmlns:a="http://schemas.openxmlformats.org/drawingml/2006/main" name="1_Custom Design">
  <a:themeElements>
    <a:clrScheme name="01_Theme01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176490"/>
      </a:accent1>
      <a:accent2>
        <a:srgbClr val="0187AC"/>
      </a:accent2>
      <a:accent3>
        <a:srgbClr val="1AA4BE"/>
      </a:accent3>
      <a:accent4>
        <a:srgbClr val="52C3CB"/>
      </a:accent4>
      <a:accent5>
        <a:srgbClr val="42BDC6"/>
      </a:accent5>
      <a:accent6>
        <a:srgbClr val="168EA6"/>
      </a:accent6>
      <a:hlink>
        <a:srgbClr val="FFFFFF"/>
      </a:hlink>
      <a:folHlink>
        <a:srgbClr val="595959"/>
      </a:folHlink>
    </a:clrScheme>
    <a:fontScheme name="Arial">
      <a:majorFont>
        <a:latin typeface="Arial"/>
        <a:ea typeface=""/>
        <a:cs typeface="FontAwesome"/>
      </a:majorFont>
      <a:minorFont>
        <a:latin typeface="Arial"/>
        <a:ea typeface=""/>
        <a:cs typeface="FontAwesom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1463</Words>
  <Application>Microsoft Office PowerPoint</Application>
  <PresentationFormat>Widescreen</PresentationFormat>
  <Paragraphs>241</Paragraphs>
  <Slides>47</Slides>
  <Notes>47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Arial</vt:lpstr>
      <vt:lpstr>Book Antiqua</vt:lpstr>
      <vt:lpstr>Calibri</vt:lpstr>
      <vt:lpstr>Calibri Light</vt:lpstr>
      <vt:lpstr>HP Simplified</vt:lpstr>
      <vt:lpstr>Wingdings</vt:lpstr>
      <vt:lpstr>Default Design</vt:lpstr>
      <vt:lpstr>Retrospect</vt:lpstr>
      <vt:lpstr>1_Custom Design</vt:lpstr>
      <vt:lpstr>Foundations of Business</vt:lpstr>
      <vt:lpstr>Business and Society</vt:lpstr>
      <vt:lpstr>Wealth Creation</vt:lpstr>
      <vt:lpstr>Wealth Creation</vt:lpstr>
      <vt:lpstr>Wealth Creation</vt:lpstr>
      <vt:lpstr>Forms of Business Ownership</vt:lpstr>
      <vt:lpstr>Forms of Private Business Ownership</vt:lpstr>
      <vt:lpstr>Advantages and Disadvantages of: </vt:lpstr>
      <vt:lpstr>Corporate Management </vt:lpstr>
      <vt:lpstr>Franchising</vt:lpstr>
      <vt:lpstr>The Franchising Sector </vt:lpstr>
      <vt:lpstr>Franchising (Franchisee Perspective)</vt:lpstr>
      <vt:lpstr>PowerPoint Presentation</vt:lpstr>
      <vt:lpstr>Starting a Business</vt:lpstr>
      <vt:lpstr>Finding Financing </vt:lpstr>
      <vt:lpstr>Why Small Businesses Fail </vt:lpstr>
      <vt:lpstr>Why Small Businesses Fail   </vt:lpstr>
      <vt:lpstr>Creating a Business Plan </vt:lpstr>
      <vt:lpstr>The Business Plan: A Foundation for Success </vt:lpstr>
      <vt:lpstr>Entrepreneurship</vt:lpstr>
      <vt:lpstr>Entrepreneurship</vt:lpstr>
      <vt:lpstr>Characteristics of Entrepreneurs </vt:lpstr>
      <vt:lpstr>Why People Become Entrepreneurs </vt:lpstr>
      <vt:lpstr>Entrepreneurial Challenges</vt:lpstr>
      <vt:lpstr>Small Businesses vs. Entrepreneurial Businesses</vt:lpstr>
      <vt:lpstr>David Birch Model</vt:lpstr>
      <vt:lpstr>Mice</vt:lpstr>
      <vt:lpstr>Gazelles</vt:lpstr>
      <vt:lpstr>Elephants</vt:lpstr>
      <vt:lpstr>Coach</vt:lpstr>
      <vt:lpstr>CNBC Video: Why Gen Z Fell in Love with Coach</vt:lpstr>
      <vt:lpstr>What happened to Coach and why? </vt:lpstr>
      <vt:lpstr>How did Coach reverse its decline in brand value? </vt:lpstr>
      <vt:lpstr>PowerPoint Presentation</vt:lpstr>
      <vt:lpstr>PowerPoint Presentation</vt:lpstr>
      <vt:lpstr>What role did leadership changes play in Coach’s turnaround?</vt:lpstr>
      <vt:lpstr>Questions?</vt:lpstr>
      <vt:lpstr>Self Study</vt:lpstr>
      <vt:lpstr>What is a Small Business? </vt:lpstr>
      <vt:lpstr>Most Businesses are Small Businesses</vt:lpstr>
      <vt:lpstr>Contributions of Small Business to the Economy </vt:lpstr>
      <vt:lpstr>Typical Small-Business Ventures </vt:lpstr>
      <vt:lpstr>Public (Government) Ownership of Business </vt:lpstr>
      <vt:lpstr>Organizing a Corporation</vt:lpstr>
      <vt:lpstr>Who will create wealth?</vt:lpstr>
      <vt:lpstr>Who will help?  Assistance for Small Business</vt:lpstr>
      <vt:lpstr>Assistance for Small Businesses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2025-09-08T18:09:35Z</dcterms:created>
  <dcterms:modified xsi:type="dcterms:W3CDTF">2026-09-15T12:14:32Z</dcterms:modified>
</cp:coreProperties>
</file>